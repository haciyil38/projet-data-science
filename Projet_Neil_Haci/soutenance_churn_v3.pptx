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09"/>
    <p:restoredTop sz="94610"/>
  </p:normalViewPr>
  <p:slideViewPr>
    <p:cSldViewPr snapToGrid="0" snapToObjects="1">
      <p:cViewPr varScale="1">
        <p:scale>
          <a:sx n="149" d="100"/>
          <a:sy n="149" d="100"/>
        </p:scale>
        <p:origin x="62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34953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préparation a été faite avec un pipeline </a:t>
            </a:r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sklearn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complet : imputation, standardisation, encodage</a:t>
            </a:r>
          </a:p>
          <a:p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One-Hot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tout encapsulé dans un </a:t>
            </a:r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ColumnTransformer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pour éviter tout data </a:t>
            </a:r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leakage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entre le train et le</a:t>
            </a:r>
          </a:p>
          <a:p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test. Le split est stratifié 80/20. Le défi principal était le déséquilibre 8,8 pour 1. Pour montrer</a:t>
            </a:r>
          </a:p>
          <a:p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pourquoi c'est un vrai problème : un modèle qui prédit systématiquement 'pas de </a:t>
            </a:r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churn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 obtiendrait</a:t>
            </a:r>
          </a:p>
          <a:p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89,8 % d'</a:t>
            </a:r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accuracy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ce qui paraît excellent, mais son </a:t>
            </a:r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recall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 zéro. Il ne détecte aucun </a:t>
            </a:r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churner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C'est</a:t>
            </a:r>
          </a:p>
          <a:p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pourquoi on a travaillé avec le F1-score et le ROC-AUC comme métriques prioritaires, et on a</a:t>
            </a:r>
          </a:p>
          <a:p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comparé trois techniques de gestion du déséquilibre. On a aussi optimisé le seuil de décision par</a:t>
            </a:r>
          </a:p>
          <a:p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maximisation du F1 plutôt que de garder 0,5 par défaut.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906709" y="1129585"/>
            <a:ext cx="62179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Intelligent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06709" y="1623361"/>
            <a:ext cx="62179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Multi-Modèles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06709" y="2117137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la Rétention Client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06709" y="2464609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l'Évaluation du Risque de Revenus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06709" y="2848657"/>
            <a:ext cx="4114800" cy="22860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906709" y="2994961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du Churn Client : Classification Binaire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6709" y="3379009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 Yilmazer  |  Neil Ben Ayed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6709" y="3635041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Formatrice : Sarah Malaeb  |  Mastère DE &amp; IA 2025-2026  |  Mai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046720" y="466344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14630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Contexte, Problématique &amp; Besoin Utilisateur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8595360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256032" y="749808"/>
            <a:ext cx="8595360" cy="47548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56032" y="749808"/>
            <a:ext cx="45720" cy="475488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84048" y="749808"/>
            <a:ext cx="8366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 système intelligent multi-modèles permettant de prédire le risque de churn et d'aider les équipes CRM à prioriser les actions de rétention."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6032" y="1335024"/>
            <a:ext cx="2743200" cy="86868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256032" y="1335024"/>
            <a:ext cx="274320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47472" y="1408176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d'acquisition 5x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7472" y="1664208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Fidéliser coûte 5 fois moins cher qu'acquérir un nouveau client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335024"/>
            <a:ext cx="2743200" cy="86868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3200400" y="1335024"/>
            <a:ext cx="2743200" cy="4572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291840" y="1408176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Churner non détecté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291840" y="1664208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 de revenu récurrent définitive — impossible à récupérer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44768" y="1335024"/>
            <a:ext cx="2743200" cy="86868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6144768" y="1335024"/>
            <a:ext cx="274320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6236208" y="1408176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SaaS/Télécom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236208" y="1664208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Abonnements mensuels — résiliation à tout moment — données disponibles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56032" y="2322576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 cibles &amp; scénarios d'usage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56032" y="2615184"/>
            <a:ext cx="8595360" cy="457200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310896" y="26151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👤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04672" y="2615184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 CRM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944368" y="2706624"/>
            <a:ext cx="22860" cy="27432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3017520" y="2615184"/>
            <a:ext cx="5715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Prioriser les clients à contacter, déclencher les actions de rétention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56032" y="3145536"/>
            <a:ext cx="8595360" cy="457200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310896" y="31455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04672" y="3145536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 Marketing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944368" y="3236976"/>
            <a:ext cx="22860" cy="27432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3017520" y="3145536"/>
            <a:ext cx="5715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Simuler : quel est le risque si le NPS baisse ? Quelles actions cibler en priorité ?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56032" y="3675888"/>
            <a:ext cx="8595360" cy="457200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310896" y="36758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💰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04672" y="3675888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Financière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944368" y="3767328"/>
            <a:ext cx="22860" cy="27432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3017520" y="3675888"/>
            <a:ext cx="5715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Estimer le revenu à risque, anticiper l'impact sur le chiffre d'affaires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56032" y="4261104"/>
            <a:ext cx="8595360" cy="347472"/>
          </a:xfrm>
          <a:prstGeom prst="rect">
            <a:avLst/>
          </a:prstGeom>
          <a:solidFill>
            <a:srgbClr val="0A152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Shape 36"/>
          <p:cNvSpPr/>
          <p:nvPr/>
        </p:nvSpPr>
        <p:spPr>
          <a:xfrm>
            <a:off x="256032" y="4261104"/>
            <a:ext cx="45720" cy="34747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384048" y="4261104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ajoutée :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883664" y="426110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862 640 € de revenu annuel identifié à risque — 1 021 clients détectés sur 10 000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046720" y="466344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14630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de Travail &amp; Organisation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8595360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457200" y="2162429"/>
            <a:ext cx="8046720" cy="27432"/>
          </a:xfrm>
          <a:prstGeom prst="rect">
            <a:avLst/>
          </a:prstGeom>
          <a:solidFill>
            <a:srgbClr val="1A5EAA">
              <a:alpha val="4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777240" y="2016125"/>
            <a:ext cx="292608" cy="292608"/>
          </a:xfrm>
          <a:prstGeom prst="ellipse">
            <a:avLst/>
          </a:prstGeom>
          <a:solidFill>
            <a:srgbClr val="0891B2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777240" y="2016125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1339469"/>
            <a:ext cx="1143000" cy="54864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411480" y="1339469"/>
            <a:ext cx="1143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11480" y="1394333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Compréhension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1480" y="1595501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Sujet + dataset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167128" y="2016125"/>
            <a:ext cx="292608" cy="292608"/>
          </a:xfrm>
          <a:prstGeom prst="ellipse">
            <a:avLst/>
          </a:prstGeom>
          <a:solidFill>
            <a:srgbClr val="0891B2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2167128" y="2016125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801368" y="1339469"/>
            <a:ext cx="1143000" cy="54864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1801368" y="1339469"/>
            <a:ext cx="1143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1801368" y="1394333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801368" y="1595501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Hypothèses métier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557016" y="2016125"/>
            <a:ext cx="292608" cy="292608"/>
          </a:xfrm>
          <a:prstGeom prst="ellipse">
            <a:avLst/>
          </a:prstGeom>
          <a:solidFill>
            <a:srgbClr val="0891B2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3557016" y="2016125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91256" y="1339469"/>
            <a:ext cx="1143000" cy="54864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3191256" y="1339469"/>
            <a:ext cx="1143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3191256" y="1394333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191256" y="1595501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sklearn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946904" y="2016125"/>
            <a:ext cx="292608" cy="292608"/>
          </a:xfrm>
          <a:prstGeom prst="ellipse">
            <a:avLst/>
          </a:prstGeom>
          <a:solidFill>
            <a:srgbClr val="0891B2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4946904" y="2016125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81144" y="1339469"/>
            <a:ext cx="1143000" cy="54864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4581144" y="1339469"/>
            <a:ext cx="1143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4581144" y="1394333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81144" y="1595501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modèles + seuil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336792" y="2016125"/>
            <a:ext cx="292608" cy="292608"/>
          </a:xfrm>
          <a:prstGeom prst="ellipse">
            <a:avLst/>
          </a:prstGeom>
          <a:solidFill>
            <a:srgbClr val="0891B2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6336792" y="2016125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971032" y="1339469"/>
            <a:ext cx="1143000" cy="54864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4" name="Shape 32"/>
          <p:cNvSpPr/>
          <p:nvPr/>
        </p:nvSpPr>
        <p:spPr>
          <a:xfrm>
            <a:off x="5971032" y="1339469"/>
            <a:ext cx="1143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5971032" y="1394333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Interp+Deploy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971032" y="1595501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+ Dashboard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7726680" y="2016125"/>
            <a:ext cx="292608" cy="292608"/>
          </a:xfrm>
          <a:prstGeom prst="ellipse">
            <a:avLst/>
          </a:prstGeom>
          <a:solidFill>
            <a:srgbClr val="0891B2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7726680" y="2016125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360920" y="1339469"/>
            <a:ext cx="1143000" cy="54864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0" name="Shape 38"/>
          <p:cNvSpPr/>
          <p:nvPr/>
        </p:nvSpPr>
        <p:spPr>
          <a:xfrm>
            <a:off x="7360920" y="1339469"/>
            <a:ext cx="1143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1" name="Text 39"/>
          <p:cNvSpPr/>
          <p:nvPr/>
        </p:nvSpPr>
        <p:spPr>
          <a:xfrm>
            <a:off x="7360920" y="1394333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60920" y="1595501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sections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56032" y="2907280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rencontrés et solutions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56032" y="3199888"/>
            <a:ext cx="4206240" cy="420624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4" name="Shape 52"/>
          <p:cNvSpPr/>
          <p:nvPr/>
        </p:nvSpPr>
        <p:spPr>
          <a:xfrm>
            <a:off x="329184" y="3309616"/>
            <a:ext cx="1170432" cy="201168"/>
          </a:xfrm>
          <a:prstGeom prst="roundRect">
            <a:avLst>
              <a:gd name="adj" fmla="val 22727"/>
            </a:avLst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5" name="Text 53"/>
          <p:cNvSpPr/>
          <p:nvPr/>
        </p:nvSpPr>
        <p:spPr>
          <a:xfrm>
            <a:off x="329184" y="3309616"/>
            <a:ext cx="11704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1572768" y="3199888"/>
            <a:ext cx="1234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Déséquilibre 8,8:1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2834640" y="3291328"/>
            <a:ext cx="18288" cy="237744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8" name="Text 56"/>
          <p:cNvSpPr/>
          <p:nvPr/>
        </p:nvSpPr>
        <p:spPr>
          <a:xfrm>
            <a:off x="2889504" y="3199888"/>
            <a:ext cx="1508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Pondération, sample_weight, optimisation du seuil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4690872" y="3199888"/>
            <a:ext cx="4206240" cy="420624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0" name="Shape 58"/>
          <p:cNvSpPr/>
          <p:nvPr/>
        </p:nvSpPr>
        <p:spPr>
          <a:xfrm>
            <a:off x="4764024" y="3309616"/>
            <a:ext cx="1170432" cy="201168"/>
          </a:xfrm>
          <a:prstGeom prst="roundRect">
            <a:avLst>
              <a:gd name="adj" fmla="val 22727"/>
            </a:avLst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1" name="Text 59"/>
          <p:cNvSpPr/>
          <p:nvPr/>
        </p:nvSpPr>
        <p:spPr>
          <a:xfrm>
            <a:off x="4764024" y="3309616"/>
            <a:ext cx="11704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6007608" y="3199888"/>
            <a:ext cx="1234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trompeuse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269480" y="3291328"/>
            <a:ext cx="18288" cy="237744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4" name="Text 62"/>
          <p:cNvSpPr/>
          <p:nvPr/>
        </p:nvSpPr>
        <p:spPr>
          <a:xfrm>
            <a:off x="7324344" y="3199888"/>
            <a:ext cx="1508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F1, Recall, ROC-AUC, PR-AUC comme métriques prioritaires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046720" y="466344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14630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Référentiel de Données &amp; Dataset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8595360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256032" y="749808"/>
            <a:ext cx="1920240" cy="777240"/>
          </a:xfrm>
          <a:prstGeom prst="rect">
            <a:avLst/>
          </a:prstGeom>
          <a:solidFill>
            <a:srgbClr val="0891B2">
              <a:alpha val="12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56032" y="749808"/>
            <a:ext cx="192024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56032" y="822960"/>
            <a:ext cx="1920240" cy="4274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10 000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56032" y="1231697"/>
            <a:ext cx="1920240" cy="29535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450592" y="749808"/>
            <a:ext cx="1920240" cy="777240"/>
          </a:xfrm>
          <a:prstGeom prst="rect">
            <a:avLst/>
          </a:prstGeom>
          <a:solidFill>
            <a:srgbClr val="1A5EAA">
              <a:alpha val="12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450592" y="749808"/>
            <a:ext cx="1920240" cy="45720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2450592" y="822960"/>
            <a:ext cx="1920240" cy="4274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450592" y="1231697"/>
            <a:ext cx="1920240" cy="29535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45152" y="749808"/>
            <a:ext cx="1920240" cy="777240"/>
          </a:xfrm>
          <a:prstGeom prst="rect">
            <a:avLst/>
          </a:prstGeom>
          <a:solidFill>
            <a:srgbClr val="F59E0B">
              <a:alpha val="12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4645152" y="749808"/>
            <a:ext cx="192024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645152" y="822960"/>
            <a:ext cx="1920240" cy="4274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10,2 %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45152" y="1231697"/>
            <a:ext cx="1920240" cy="29535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rate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39712" y="749808"/>
            <a:ext cx="1920240" cy="777240"/>
          </a:xfrm>
          <a:prstGeom prst="rect">
            <a:avLst/>
          </a:prstGeom>
          <a:solidFill>
            <a:srgbClr val="EF4444">
              <a:alpha val="12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6839712" y="749808"/>
            <a:ext cx="1920240" cy="4572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839712" y="822960"/>
            <a:ext cx="1920240" cy="4274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8,8:1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839712" y="1231697"/>
            <a:ext cx="1920240" cy="29535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Déséquilibre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56032" y="164592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retenues pour la modélisation (11)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56032" y="1938528"/>
            <a:ext cx="4160520" cy="120700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256032" y="1938528"/>
            <a:ext cx="45720" cy="1207008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365760" y="1993392"/>
            <a:ext cx="3995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Numériques</a:t>
            </a: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(10)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65760" y="2267712"/>
            <a:ext cx="3995928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· tenure_months · monthly_fee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total_revenue · payment_failures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support_tickets · avg_session_time</a:t>
            </a:r>
            <a:endParaRPr lang="en-US" sz="950" dirty="0"/>
          </a:p>
          <a:p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monthly_logins · </a:t>
            </a:r>
            <a:r>
              <a:rPr lang="en-US" sz="95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nps_score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95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csat_score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17720" y="1938528"/>
            <a:ext cx="4233672" cy="120700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4617720" y="1938528"/>
            <a:ext cx="45720" cy="1207008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4727448" y="1993392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Catégorielles (2)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27448" y="2267712"/>
            <a:ext cx="4069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 : Male / Female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contract_type : Monthly / Yearly / Quarterly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Encodées par OneHotEncoder (handle_unknown='ignore')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256032" y="3255264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exclues — justification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56032" y="3547872"/>
            <a:ext cx="4206240" cy="40233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Shape 31"/>
          <p:cNvSpPr/>
          <p:nvPr/>
        </p:nvSpPr>
        <p:spPr>
          <a:xfrm>
            <a:off x="256032" y="3547872"/>
            <a:ext cx="36576" cy="40233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365760" y="3547872"/>
            <a:ext cx="1188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customer_id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627632" y="354787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Identifiant technique — aucune valeur prédictive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690872" y="3547872"/>
            <a:ext cx="4206240" cy="40233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7" name="Shape 35"/>
          <p:cNvSpPr/>
          <p:nvPr/>
        </p:nvSpPr>
        <p:spPr>
          <a:xfrm>
            <a:off x="4690872" y="3547872"/>
            <a:ext cx="36576" cy="40233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4800600" y="3547872"/>
            <a:ext cx="1188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col. num.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062472" y="354787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Corrélation avec churn quasi nulle (|r| &lt; 0,04)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630261" y="4023360"/>
            <a:ext cx="4206240" cy="40233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1" name="Shape 39"/>
          <p:cNvSpPr/>
          <p:nvPr/>
        </p:nvSpPr>
        <p:spPr>
          <a:xfrm>
            <a:off x="2630251" y="4023360"/>
            <a:ext cx="36576" cy="40233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2739979" y="4023360"/>
            <a:ext cx="1188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region, city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001851" y="402336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churn identique (~10 %) quelle que soit la modalité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bg>
      <p:bgPr>
        <a:solidFill>
          <a:srgbClr val="0F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046720" y="466344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14630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Exploratoire des Données (EDA)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8595360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256032" y="929272"/>
            <a:ext cx="8595360" cy="402336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56032" y="929272"/>
            <a:ext cx="45720" cy="40233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84048" y="929272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cible : 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783080" y="929272"/>
            <a:ext cx="6949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10,2 % churners (1 021) vs 89,8 % fidèles (8 979)  —  Déséquilibre 8,8:1  —  Risque d'accuracy trompeuse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56032" y="1441336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hypothèses métier confirmées par l'EDA — ordre d'importance réel du modèle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6032" y="1770520"/>
            <a:ext cx="8595360" cy="71323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256032" y="1770520"/>
            <a:ext cx="45720" cy="7132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347472" y="18985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960" y="1807096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tenure_months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88920" y="1834528"/>
            <a:ext cx="868680" cy="182880"/>
          </a:xfrm>
          <a:prstGeom prst="roundRect">
            <a:avLst>
              <a:gd name="adj" fmla="val 20000"/>
            </a:avLst>
          </a:prstGeom>
          <a:solidFill>
            <a:srgbClr val="0891B2">
              <a:alpha val="78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2788920" y="1834528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23,2 %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22960" y="2099704"/>
            <a:ext cx="786384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la plus importante. Clients &lt; 6 mois : risque très élevé. Au-delà de 24 mois : forte inertie. Ancienneté = switching cost élevé.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56032" y="2611768"/>
            <a:ext cx="8595360" cy="71323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256032" y="2611768"/>
            <a:ext cx="45720" cy="713232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347472" y="27397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2960" y="2648344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monthly_logins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88920" y="2675776"/>
            <a:ext cx="868680" cy="182880"/>
          </a:xfrm>
          <a:prstGeom prst="roundRect">
            <a:avLst>
              <a:gd name="adj" fmla="val 20000"/>
            </a:avLst>
          </a:prstGeom>
          <a:solidFill>
            <a:srgbClr val="1A5EAA">
              <a:alpha val="78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2788920" y="2675776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21,8 %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22960" y="2940952"/>
            <a:ext cx="786384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Baisse de connexions = signal de désintérêt précoce. Clients très actifs : quasi jamais churners. Actionnable par campagne de réengagement.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56032" y="3453016"/>
            <a:ext cx="8595360" cy="71323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256032" y="3453016"/>
            <a:ext cx="45720" cy="71323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347472" y="35810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22960" y="34895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payment_failures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788920" y="3517024"/>
            <a:ext cx="868680" cy="182880"/>
          </a:xfrm>
          <a:prstGeom prst="roundRect">
            <a:avLst>
              <a:gd name="adj" fmla="val 20000"/>
            </a:avLst>
          </a:prstGeom>
          <a:solidFill>
            <a:srgbClr val="F59E0B">
              <a:alpha val="78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2788920" y="3517024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15,5 %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22960" y="3782200"/>
            <a:ext cx="786384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1 à 2 échecs : risque augmente sensiblement. Indicateur de difficultés financières ou d'insatisfaction. Actionnable par relance immédiate.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046720" y="466344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14630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Préparation des Données &amp; Gestion du Déséquilibre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8595360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201168" y="749808"/>
            <a:ext cx="1261872" cy="804672"/>
          </a:xfrm>
          <a:prstGeom prst="rect">
            <a:avLst/>
          </a:prstGeom>
          <a:solidFill>
            <a:srgbClr val="0F2A4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201168" y="749808"/>
            <a:ext cx="12618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10 000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389888" y="1024128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682496" y="749808"/>
            <a:ext cx="1261872" cy="804672"/>
          </a:xfrm>
          <a:prstGeom prst="rect">
            <a:avLst/>
          </a:prstGeom>
          <a:solidFill>
            <a:srgbClr val="1A5EA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1682496" y="749808"/>
            <a:ext cx="12618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stratifié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80/20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871216" y="1024128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163824" y="749808"/>
            <a:ext cx="1261872" cy="804672"/>
          </a:xfrm>
          <a:prstGeom prst="rect">
            <a:avLst/>
          </a:prstGeom>
          <a:solidFill>
            <a:srgbClr val="0891B2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3163824" y="749808"/>
            <a:ext cx="12618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Imputation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Médiane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52544" y="1024128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45152" y="749808"/>
            <a:ext cx="1261872" cy="804672"/>
          </a:xfrm>
          <a:prstGeom prst="rect">
            <a:avLst/>
          </a:prstGeom>
          <a:solidFill>
            <a:srgbClr val="1A5EA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645152" y="749808"/>
            <a:ext cx="12618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Scaler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833872" y="1024128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26480" y="749808"/>
            <a:ext cx="1261872" cy="804672"/>
          </a:xfrm>
          <a:prstGeom prst="rect">
            <a:avLst/>
          </a:prstGeom>
          <a:solidFill>
            <a:srgbClr val="0891B2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6126480" y="749808"/>
            <a:ext cx="12618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OneHot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315200" y="1024128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607808" y="749808"/>
            <a:ext cx="1261872" cy="804672"/>
          </a:xfrm>
          <a:prstGeom prst="rect">
            <a:avLst/>
          </a:prstGeom>
          <a:solidFill>
            <a:srgbClr val="1A5EA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7607808" y="749808"/>
            <a:ext cx="12618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sklearn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56032" y="1700784"/>
            <a:ext cx="4023360" cy="128016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256032" y="1700784"/>
            <a:ext cx="45720" cy="12801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384048" y="175564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naïf — accuracy trompeuse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84048" y="204825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Prédire toujours 'Fidèle' :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38912" y="226771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89,8 %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38912" y="2560320"/>
            <a:ext cx="1143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673352" y="226771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673352" y="2560320"/>
            <a:ext cx="1143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907792" y="226771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2907792" y="2560320"/>
            <a:ext cx="1143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84048" y="2798064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Métriques retenues : F1, Recall, ROC-AUC, PR-AUC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434840" y="1700784"/>
            <a:ext cx="4434840" cy="128016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5" name="Shape 33"/>
          <p:cNvSpPr/>
          <p:nvPr/>
        </p:nvSpPr>
        <p:spPr>
          <a:xfrm>
            <a:off x="4434840" y="1700784"/>
            <a:ext cx="45720" cy="12801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4562856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techniques comparées (Logistic Regression)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62856" y="2048256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                                                                                             Recall                   F1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562856" y="2249424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class_weight=balanced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269480" y="2249424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0,343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772400" y="224942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0,328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562856" y="2423160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7269480" y="242316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0,324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7772400" y="242316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0,327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562856" y="2596896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Under-Sampling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269480" y="2596896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0,392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7772400" y="2596896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0,317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562856" y="2752344"/>
            <a:ext cx="4206240" cy="182880"/>
          </a:xfrm>
          <a:prstGeom prst="rect">
            <a:avLst/>
          </a:prstGeom>
          <a:solidFill>
            <a:srgbClr val="0891B2">
              <a:alpha val="2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8" name="Text 46"/>
          <p:cNvSpPr/>
          <p:nvPr/>
        </p:nvSpPr>
        <p:spPr>
          <a:xfrm>
            <a:off x="4562856" y="2770632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sample_weight → GB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7269480" y="277063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0,799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7772400" y="2770632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0,391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256032" y="3090672"/>
            <a:ext cx="8595360" cy="1335024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2" name="Shape 50"/>
          <p:cNvSpPr/>
          <p:nvPr/>
        </p:nvSpPr>
        <p:spPr>
          <a:xfrm>
            <a:off x="256032" y="3090672"/>
            <a:ext cx="45720" cy="133502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3" name="Text 51"/>
          <p:cNvSpPr/>
          <p:nvPr/>
        </p:nvSpPr>
        <p:spPr>
          <a:xfrm>
            <a:off x="384048" y="3145536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du seuil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84048" y="338328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Balayage 0,05 à 0,95 par pas de 0,01 — maximisation du F1-score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 : seuil=0,48 (calibration naturelle)  |  RF : seuil=0,14 (surcalibration, signe d'overfitting)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663440" y="3145536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croisée K-Fold (k=5)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663440" y="338328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 + SMOTE — 5 folds stratifiés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moyen = 0,185 ± 0,011  |  ROC-AUC = 0,785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 écart-type confirme la stabilité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046720" y="466344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14630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Data Science &amp; Les 4 Modèles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8595360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56032" y="749808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bout en bout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6032" y="1005840"/>
            <a:ext cx="987552" cy="457200"/>
          </a:xfrm>
          <a:prstGeom prst="rect">
            <a:avLst/>
          </a:prstGeom>
          <a:solidFill>
            <a:srgbClr val="0F2A4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56032" y="1005840"/>
            <a:ext cx="987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Brut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207008" y="1124712"/>
            <a:ext cx="182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362456" y="1005840"/>
            <a:ext cx="987552" cy="457200"/>
          </a:xfrm>
          <a:prstGeom prst="rect">
            <a:avLst/>
          </a:prstGeom>
          <a:solidFill>
            <a:srgbClr val="0891B2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1362456" y="1005840"/>
            <a:ext cx="987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313432" y="1124712"/>
            <a:ext cx="182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468880" y="1005840"/>
            <a:ext cx="987552" cy="457200"/>
          </a:xfrm>
          <a:prstGeom prst="rect">
            <a:avLst/>
          </a:prstGeom>
          <a:solidFill>
            <a:srgbClr val="1A5EA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2468880" y="1005840"/>
            <a:ext cx="987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419856" y="1124712"/>
            <a:ext cx="182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75304" y="1005840"/>
            <a:ext cx="987552" cy="457200"/>
          </a:xfrm>
          <a:prstGeom prst="rect">
            <a:avLst/>
          </a:prstGeom>
          <a:solidFill>
            <a:srgbClr val="0891B2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3575304" y="1005840"/>
            <a:ext cx="987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Modèles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526280" y="1124712"/>
            <a:ext cx="182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81728" y="1005840"/>
            <a:ext cx="987552" cy="457200"/>
          </a:xfrm>
          <a:prstGeom prst="rect">
            <a:avLst/>
          </a:prstGeom>
          <a:solidFill>
            <a:srgbClr val="1A5EA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4681728" y="1005840"/>
            <a:ext cx="987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32704" y="1124712"/>
            <a:ext cx="182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788152" y="1005840"/>
            <a:ext cx="987552" cy="457200"/>
          </a:xfrm>
          <a:prstGeom prst="rect">
            <a:avLst/>
          </a:prstGeom>
          <a:solidFill>
            <a:srgbClr val="10B98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5788152" y="1005840"/>
            <a:ext cx="987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739128" y="1124712"/>
            <a:ext cx="182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894576" y="1005840"/>
            <a:ext cx="987552" cy="457200"/>
          </a:xfrm>
          <a:prstGeom prst="rect">
            <a:avLst/>
          </a:prstGeom>
          <a:solidFill>
            <a:srgbClr val="1A5EA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6894576" y="1005840"/>
            <a:ext cx="987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845552" y="1124712"/>
            <a:ext cx="182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001000" y="1005840"/>
            <a:ext cx="987552" cy="457200"/>
          </a:xfrm>
          <a:prstGeom prst="rect">
            <a:avLst/>
          </a:prstGeom>
          <a:solidFill>
            <a:srgbClr val="0891B2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8001000" y="1005840"/>
            <a:ext cx="987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01168" y="1609344"/>
            <a:ext cx="2029968" cy="318211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201168" y="1609344"/>
            <a:ext cx="2029968" cy="4572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292608" y="1700784"/>
            <a:ext cx="1188720" cy="182880"/>
          </a:xfrm>
          <a:prstGeom prst="roundRect">
            <a:avLst>
              <a:gd name="adj" fmla="val 20000"/>
            </a:avLst>
          </a:prstGeom>
          <a:solidFill>
            <a:srgbClr val="94A3B8">
              <a:alpha val="7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292608" y="1700784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92608" y="1920240"/>
            <a:ext cx="18470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 Logistique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92608" y="2377440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92608" y="2578608"/>
            <a:ext cx="1847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class_weight='balanced'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max_iter=1000 · Seuil : 0,64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292608" y="3182112"/>
            <a:ext cx="1847088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292608" y="3236976"/>
            <a:ext cx="1847088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linéaire de référence. Interprétable. Ne capture pas les non-linéarités.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414016" y="1609344"/>
            <a:ext cx="2029968" cy="318211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0" name="Shape 38"/>
          <p:cNvSpPr/>
          <p:nvPr/>
        </p:nvSpPr>
        <p:spPr>
          <a:xfrm>
            <a:off x="2414016" y="1609344"/>
            <a:ext cx="2029968" cy="45720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1" name="Shape 39"/>
          <p:cNvSpPr/>
          <p:nvPr/>
        </p:nvSpPr>
        <p:spPr>
          <a:xfrm>
            <a:off x="2505456" y="1700784"/>
            <a:ext cx="1188720" cy="182880"/>
          </a:xfrm>
          <a:prstGeom prst="roundRect">
            <a:avLst>
              <a:gd name="adj" fmla="val 20000"/>
            </a:avLst>
          </a:prstGeom>
          <a:solidFill>
            <a:srgbClr val="1A5EAA">
              <a:alpha val="7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2505456" y="1700784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Ensembliste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505456" y="1920240"/>
            <a:ext cx="18470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505456" y="2377440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505456" y="2578608"/>
            <a:ext cx="1847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n_estimators=200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class_weight='balanced' · Seuil : 0,19 ⚠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2505456" y="3182112"/>
            <a:ext cx="1847088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7" name="Text 45"/>
          <p:cNvSpPr/>
          <p:nvPr/>
        </p:nvSpPr>
        <p:spPr>
          <a:xfrm>
            <a:off x="2505456" y="3236976"/>
            <a:ext cx="1847088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train=1,000 — surapprentissage. </a:t>
            </a:r>
            <a:r>
              <a:rPr lang="en-US" sz="85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</a:t>
            </a: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0,19 = mauvaise calibration.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626864" y="1609344"/>
            <a:ext cx="2029968" cy="3182112"/>
          </a:xfrm>
          <a:prstGeom prst="rect">
            <a:avLst/>
          </a:prstGeom>
          <a:solidFill>
            <a:srgbClr val="1A2E0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9" name="Shape 47"/>
          <p:cNvSpPr/>
          <p:nvPr/>
        </p:nvSpPr>
        <p:spPr>
          <a:xfrm>
            <a:off x="4626864" y="1609344"/>
            <a:ext cx="2029968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0" name="Shape 48"/>
          <p:cNvSpPr/>
          <p:nvPr/>
        </p:nvSpPr>
        <p:spPr>
          <a:xfrm>
            <a:off x="4718304" y="1700784"/>
            <a:ext cx="1188720" cy="182880"/>
          </a:xfrm>
          <a:prstGeom prst="roundRect">
            <a:avLst>
              <a:gd name="adj" fmla="val 20000"/>
            </a:avLst>
          </a:prstGeom>
          <a:solidFill>
            <a:srgbClr val="F59E0B">
              <a:alpha val="7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1" name="Text 49"/>
          <p:cNvSpPr/>
          <p:nvPr/>
        </p:nvSpPr>
        <p:spPr>
          <a:xfrm>
            <a:off x="4718304" y="1700784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Retenu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718304" y="1920240"/>
            <a:ext cx="18470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718304" y="2377440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718304" y="2578608"/>
            <a:ext cx="1847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n_estimators=200, lr=0,05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max_depth=4, sample_weight · Seuil : 0,48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4718304" y="3182112"/>
            <a:ext cx="1847088" cy="1828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6" name="Text 54"/>
          <p:cNvSpPr/>
          <p:nvPr/>
        </p:nvSpPr>
        <p:spPr>
          <a:xfrm>
            <a:off x="4718304" y="3236976"/>
            <a:ext cx="1847088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F1 et AUC. Seuil 0,53 = calibration naturelle. SHAP disponible.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839712" y="1609344"/>
            <a:ext cx="2029968" cy="318211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8" name="Shape 56"/>
          <p:cNvSpPr/>
          <p:nvPr/>
        </p:nvSpPr>
        <p:spPr>
          <a:xfrm>
            <a:off x="6839712" y="1609344"/>
            <a:ext cx="2029968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9" name="Shape 57"/>
          <p:cNvSpPr/>
          <p:nvPr/>
        </p:nvSpPr>
        <p:spPr>
          <a:xfrm>
            <a:off x="6931152" y="1700784"/>
            <a:ext cx="1188720" cy="182880"/>
          </a:xfrm>
          <a:prstGeom prst="roundRect">
            <a:avLst>
              <a:gd name="adj" fmla="val 20000"/>
            </a:avLst>
          </a:prstGeom>
          <a:solidFill>
            <a:srgbClr val="0891B2">
              <a:alpha val="7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0" name="Text 58"/>
          <p:cNvSpPr/>
          <p:nvPr/>
        </p:nvSpPr>
        <p:spPr>
          <a:xfrm>
            <a:off x="6931152" y="1700784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6931152" y="1920240"/>
            <a:ext cx="18470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(Deep Learning)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931152" y="2377440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931152" y="2578608"/>
            <a:ext cx="1847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hidden=(128,64,32)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early_stopping=True · Seuil : 0,60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931152" y="3182112"/>
            <a:ext cx="1847088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5" name="Text 63"/>
          <p:cNvSpPr/>
          <p:nvPr/>
        </p:nvSpPr>
        <p:spPr>
          <a:xfrm>
            <a:off x="6931152" y="3236976"/>
            <a:ext cx="1847088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F1=0,358 &lt; GB. DL non supérieur ici. Coût computationnel plus élevé.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046720" y="466344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14630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Comparatifs &amp; Choix du Modèle Final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8595360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256032" y="1048911"/>
            <a:ext cx="2075688" cy="256032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256032" y="1048911"/>
            <a:ext cx="2075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359152" y="1048911"/>
            <a:ext cx="658368" cy="256032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359152" y="1048911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044952" y="1048911"/>
            <a:ext cx="795528" cy="256032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044952" y="1048911"/>
            <a:ext cx="795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867912" y="1048911"/>
            <a:ext cx="795528" cy="256032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3867912" y="1048911"/>
            <a:ext cx="795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690872" y="1048911"/>
            <a:ext cx="722376" cy="256032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690872" y="1048911"/>
            <a:ext cx="7223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40680" y="1048911"/>
            <a:ext cx="722376" cy="256032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5440680" y="1048911"/>
            <a:ext cx="7223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190488" y="1048911"/>
            <a:ext cx="777240" cy="256032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6190488" y="1048911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995160" y="1048911"/>
            <a:ext cx="777240" cy="256032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6995160" y="1048911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56032" y="1341519"/>
            <a:ext cx="7397336" cy="274320"/>
          </a:xfrm>
          <a:prstGeom prst="rect">
            <a:avLst/>
          </a:prstGeom>
          <a:solidFill>
            <a:srgbClr val="10B981">
              <a:alpha val="1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256032" y="1341519"/>
            <a:ext cx="2075688" cy="265176"/>
          </a:xfrm>
          <a:prstGeom prst="rect">
            <a:avLst/>
          </a:prstGeom>
          <a:solidFill>
            <a:srgbClr val="1A2E1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256032" y="1341519"/>
            <a:ext cx="2075688" cy="265176"/>
          </a:xfrm>
          <a:prstGeom prst="rect">
            <a:avLst/>
          </a:prstGeom>
          <a:noFill/>
          <a:ln/>
        </p:spPr>
        <p:txBody>
          <a:bodyPr wrap="square" lIns="0" tIns="6350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★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359152" y="1341519"/>
            <a:ext cx="658368" cy="265176"/>
          </a:xfrm>
          <a:prstGeom prst="rect">
            <a:avLst/>
          </a:prstGeom>
          <a:solidFill>
            <a:srgbClr val="1A2E1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2359152" y="1341519"/>
            <a:ext cx="6583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0,48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44952" y="1341519"/>
            <a:ext cx="795528" cy="265176"/>
          </a:xfrm>
          <a:prstGeom prst="rect">
            <a:avLst/>
          </a:prstGeom>
          <a:solidFill>
            <a:srgbClr val="1A2E1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3044952" y="1341519"/>
            <a:ext cx="795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0,746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867912" y="1341519"/>
            <a:ext cx="795528" cy="265176"/>
          </a:xfrm>
          <a:prstGeom prst="rect">
            <a:avLst/>
          </a:prstGeom>
          <a:solidFill>
            <a:srgbClr val="1A2E1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3867912" y="1341519"/>
            <a:ext cx="795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90872" y="1341519"/>
            <a:ext cx="722376" cy="265176"/>
          </a:xfrm>
          <a:prstGeom prst="rect">
            <a:avLst/>
          </a:prstGeom>
          <a:solidFill>
            <a:srgbClr val="1A2E1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4690872" y="1341519"/>
            <a:ext cx="7223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0,799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440680" y="1341519"/>
            <a:ext cx="722376" cy="265176"/>
          </a:xfrm>
          <a:prstGeom prst="rect">
            <a:avLst/>
          </a:prstGeom>
          <a:solidFill>
            <a:srgbClr val="1A2E1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5440680" y="1341519"/>
            <a:ext cx="7223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0,391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90488" y="1341519"/>
            <a:ext cx="777240" cy="265176"/>
          </a:xfrm>
          <a:prstGeom prst="rect">
            <a:avLst/>
          </a:prstGeom>
          <a:solidFill>
            <a:srgbClr val="1A2E1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6190488" y="1341519"/>
            <a:ext cx="7772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0,796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995160" y="1341519"/>
            <a:ext cx="777240" cy="265176"/>
          </a:xfrm>
          <a:prstGeom prst="rect">
            <a:avLst/>
          </a:prstGeom>
          <a:solidFill>
            <a:srgbClr val="1A2E1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6995160" y="1341519"/>
            <a:ext cx="7772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0,308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56032" y="1615839"/>
            <a:ext cx="2075688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256032" y="1615839"/>
            <a:ext cx="2075688" cy="265176"/>
          </a:xfrm>
          <a:prstGeom prst="rect">
            <a:avLst/>
          </a:prstGeom>
          <a:noFill/>
          <a:ln/>
        </p:spPr>
        <p:txBody>
          <a:bodyPr wrap="square" lIns="0" tIns="6350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(Deep Learning)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359152" y="1615839"/>
            <a:ext cx="658368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2359152" y="1615839"/>
            <a:ext cx="6583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044952" y="1615839"/>
            <a:ext cx="795528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4" name="Text 42"/>
          <p:cNvSpPr/>
          <p:nvPr/>
        </p:nvSpPr>
        <p:spPr>
          <a:xfrm>
            <a:off x="3044952" y="1615839"/>
            <a:ext cx="795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0,803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867912" y="1615839"/>
            <a:ext cx="795528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6" name="Text 44"/>
          <p:cNvSpPr/>
          <p:nvPr/>
        </p:nvSpPr>
        <p:spPr>
          <a:xfrm>
            <a:off x="3867912" y="1615839"/>
            <a:ext cx="795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0,268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690872" y="1615839"/>
            <a:ext cx="722376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8" name="Text 46"/>
          <p:cNvSpPr/>
          <p:nvPr/>
        </p:nvSpPr>
        <p:spPr>
          <a:xfrm>
            <a:off x="4690872" y="1615839"/>
            <a:ext cx="7223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0,539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440680" y="1615839"/>
            <a:ext cx="722376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0" name="Text 48"/>
          <p:cNvSpPr/>
          <p:nvPr/>
        </p:nvSpPr>
        <p:spPr>
          <a:xfrm>
            <a:off x="5440680" y="1615839"/>
            <a:ext cx="7223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0,358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190488" y="1615839"/>
            <a:ext cx="777240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2" name="Text 50"/>
          <p:cNvSpPr/>
          <p:nvPr/>
        </p:nvSpPr>
        <p:spPr>
          <a:xfrm>
            <a:off x="6190488" y="1615839"/>
            <a:ext cx="7772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0,765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995160" y="1615839"/>
            <a:ext cx="777240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4" name="Text 52"/>
          <p:cNvSpPr/>
          <p:nvPr/>
        </p:nvSpPr>
        <p:spPr>
          <a:xfrm>
            <a:off x="6995160" y="1615839"/>
            <a:ext cx="7772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0,235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256032" y="1890159"/>
            <a:ext cx="2075688" cy="265176"/>
          </a:xfrm>
          <a:prstGeom prst="rect">
            <a:avLst/>
          </a:prstGeom>
          <a:solidFill>
            <a:srgbClr val="0F203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6" name="Text 54"/>
          <p:cNvSpPr/>
          <p:nvPr/>
        </p:nvSpPr>
        <p:spPr>
          <a:xfrm>
            <a:off x="256032" y="1890159"/>
            <a:ext cx="2075688" cy="265176"/>
          </a:xfrm>
          <a:prstGeom prst="rect">
            <a:avLst/>
          </a:prstGeom>
          <a:noFill/>
          <a:ln/>
        </p:spPr>
        <p:txBody>
          <a:bodyPr wrap="square" lIns="0" tIns="6350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2359152" y="1890159"/>
            <a:ext cx="658368" cy="265176"/>
          </a:xfrm>
          <a:prstGeom prst="rect">
            <a:avLst/>
          </a:prstGeom>
          <a:solidFill>
            <a:srgbClr val="0F203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8" name="Text 56"/>
          <p:cNvSpPr/>
          <p:nvPr/>
        </p:nvSpPr>
        <p:spPr>
          <a:xfrm>
            <a:off x="2359152" y="1890159"/>
            <a:ext cx="6583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0,19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044952" y="1890159"/>
            <a:ext cx="795528" cy="265176"/>
          </a:xfrm>
          <a:prstGeom prst="rect">
            <a:avLst/>
          </a:prstGeom>
          <a:solidFill>
            <a:srgbClr val="0F203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0" name="Text 58"/>
          <p:cNvSpPr/>
          <p:nvPr/>
        </p:nvSpPr>
        <p:spPr>
          <a:xfrm>
            <a:off x="3044952" y="1890159"/>
            <a:ext cx="795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0,806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867912" y="1890159"/>
            <a:ext cx="795528" cy="265176"/>
          </a:xfrm>
          <a:prstGeom prst="rect">
            <a:avLst/>
          </a:prstGeom>
          <a:solidFill>
            <a:srgbClr val="0F203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2" name="Text 60"/>
          <p:cNvSpPr/>
          <p:nvPr/>
        </p:nvSpPr>
        <p:spPr>
          <a:xfrm>
            <a:off x="3867912" y="1890159"/>
            <a:ext cx="795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0,279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690872" y="1890159"/>
            <a:ext cx="722376" cy="265176"/>
          </a:xfrm>
          <a:prstGeom prst="rect">
            <a:avLst/>
          </a:prstGeom>
          <a:solidFill>
            <a:srgbClr val="0F203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4" name="Text 62"/>
          <p:cNvSpPr/>
          <p:nvPr/>
        </p:nvSpPr>
        <p:spPr>
          <a:xfrm>
            <a:off x="4690872" y="1890159"/>
            <a:ext cx="7223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0,569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440680" y="1890159"/>
            <a:ext cx="722376" cy="265176"/>
          </a:xfrm>
          <a:prstGeom prst="rect">
            <a:avLst/>
          </a:prstGeom>
          <a:solidFill>
            <a:srgbClr val="0F203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6" name="Text 64"/>
          <p:cNvSpPr/>
          <p:nvPr/>
        </p:nvSpPr>
        <p:spPr>
          <a:xfrm>
            <a:off x="5440680" y="1890159"/>
            <a:ext cx="7223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0,374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6190488" y="1890159"/>
            <a:ext cx="777240" cy="265176"/>
          </a:xfrm>
          <a:prstGeom prst="rect">
            <a:avLst/>
          </a:prstGeom>
          <a:solidFill>
            <a:srgbClr val="0F203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8" name="Text 66"/>
          <p:cNvSpPr/>
          <p:nvPr/>
        </p:nvSpPr>
        <p:spPr>
          <a:xfrm>
            <a:off x="6190488" y="1890159"/>
            <a:ext cx="7772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0,782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995160" y="1890159"/>
            <a:ext cx="777240" cy="265176"/>
          </a:xfrm>
          <a:prstGeom prst="rect">
            <a:avLst/>
          </a:prstGeom>
          <a:solidFill>
            <a:srgbClr val="0F203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0" name="Text 68"/>
          <p:cNvSpPr/>
          <p:nvPr/>
        </p:nvSpPr>
        <p:spPr>
          <a:xfrm>
            <a:off x="6995160" y="1890159"/>
            <a:ext cx="7772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0,285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56032" y="2164479"/>
            <a:ext cx="2075688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2" name="Text 70"/>
          <p:cNvSpPr/>
          <p:nvPr/>
        </p:nvSpPr>
        <p:spPr>
          <a:xfrm>
            <a:off x="256032" y="2164479"/>
            <a:ext cx="2075688" cy="265176"/>
          </a:xfrm>
          <a:prstGeom prst="rect">
            <a:avLst/>
          </a:prstGeom>
          <a:noFill/>
          <a:ln/>
        </p:spPr>
        <p:txBody>
          <a:bodyPr wrap="square" lIns="0" tIns="6350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2359152" y="2164479"/>
            <a:ext cx="658368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4" name="Text 72"/>
          <p:cNvSpPr/>
          <p:nvPr/>
        </p:nvSpPr>
        <p:spPr>
          <a:xfrm>
            <a:off x="2359152" y="2164479"/>
            <a:ext cx="6583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3044952" y="2164479"/>
            <a:ext cx="795528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6" name="Text 74"/>
          <p:cNvSpPr/>
          <p:nvPr/>
        </p:nvSpPr>
        <p:spPr>
          <a:xfrm>
            <a:off x="3044952" y="2164479"/>
            <a:ext cx="795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0,824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3867912" y="2164479"/>
            <a:ext cx="795528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8" name="Text 76"/>
          <p:cNvSpPr/>
          <p:nvPr/>
        </p:nvSpPr>
        <p:spPr>
          <a:xfrm>
            <a:off x="3867912" y="2164479"/>
            <a:ext cx="795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0,266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690872" y="2164479"/>
            <a:ext cx="722376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0" name="Text 78"/>
          <p:cNvSpPr/>
          <p:nvPr/>
        </p:nvSpPr>
        <p:spPr>
          <a:xfrm>
            <a:off x="4690872" y="2164479"/>
            <a:ext cx="7223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0,412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5440680" y="2164479"/>
            <a:ext cx="722376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2" name="Text 80"/>
          <p:cNvSpPr/>
          <p:nvPr/>
        </p:nvSpPr>
        <p:spPr>
          <a:xfrm>
            <a:off x="5440680" y="2164479"/>
            <a:ext cx="7223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190488" y="2164479"/>
            <a:ext cx="777240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4" name="Text 82"/>
          <p:cNvSpPr/>
          <p:nvPr/>
        </p:nvSpPr>
        <p:spPr>
          <a:xfrm>
            <a:off x="6190488" y="2164479"/>
            <a:ext cx="7772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0,723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995160" y="2164479"/>
            <a:ext cx="777240" cy="265176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6" name="Text 84"/>
          <p:cNvSpPr/>
          <p:nvPr/>
        </p:nvSpPr>
        <p:spPr>
          <a:xfrm>
            <a:off x="6995160" y="2164479"/>
            <a:ext cx="7772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0,240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256032" y="2841135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Gradient Boosting ?</a:t>
            </a:r>
            <a:endParaRPr lang="en-US" sz="1100" dirty="0"/>
          </a:p>
        </p:txBody>
      </p:sp>
      <p:sp>
        <p:nvSpPr>
          <p:cNvPr id="92" name="Shape 90"/>
          <p:cNvSpPr/>
          <p:nvPr/>
        </p:nvSpPr>
        <p:spPr>
          <a:xfrm>
            <a:off x="256032" y="3133743"/>
            <a:ext cx="4206240" cy="34747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3" name="Shape 91"/>
          <p:cNvSpPr/>
          <p:nvPr/>
        </p:nvSpPr>
        <p:spPr>
          <a:xfrm>
            <a:off x="329184" y="3197751"/>
            <a:ext cx="1097280" cy="201168"/>
          </a:xfrm>
          <a:prstGeom prst="roundRect">
            <a:avLst>
              <a:gd name="adj" fmla="val 18182"/>
            </a:avLst>
          </a:prstGeom>
          <a:solidFill>
            <a:srgbClr val="F59E0B">
              <a:alpha val="8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4" name="Text 92"/>
          <p:cNvSpPr/>
          <p:nvPr/>
        </p:nvSpPr>
        <p:spPr>
          <a:xfrm>
            <a:off x="329184" y="3197751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F1=0,391  AUC=0,796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1481328" y="3133743"/>
            <a:ext cx="2907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équilibre performance globale sur toutes les métriques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4690872" y="3133743"/>
            <a:ext cx="4206240" cy="34747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7" name="Shape 95"/>
          <p:cNvSpPr/>
          <p:nvPr/>
        </p:nvSpPr>
        <p:spPr>
          <a:xfrm>
            <a:off x="4764024" y="3197751"/>
            <a:ext cx="1097280" cy="201168"/>
          </a:xfrm>
          <a:prstGeom prst="roundRect">
            <a:avLst>
              <a:gd name="adj" fmla="val 18182"/>
            </a:avLst>
          </a:prstGeom>
          <a:solidFill>
            <a:srgbClr val="10B981">
              <a:alpha val="8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8" name="Text 96"/>
          <p:cNvSpPr/>
          <p:nvPr/>
        </p:nvSpPr>
        <p:spPr>
          <a:xfrm>
            <a:off x="4764024" y="3197751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Seuil=0,48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5916168" y="3133743"/>
            <a:ext cx="2907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naturelle — pas d'artefact de seuil bas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256032" y="3536079"/>
            <a:ext cx="4206240" cy="34747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1" name="Shape 99"/>
          <p:cNvSpPr/>
          <p:nvPr/>
        </p:nvSpPr>
        <p:spPr>
          <a:xfrm>
            <a:off x="329184" y="3600087"/>
            <a:ext cx="1097280" cy="201168"/>
          </a:xfrm>
          <a:prstGeom prst="roundRect">
            <a:avLst>
              <a:gd name="adj" fmla="val 18182"/>
            </a:avLst>
          </a:prstGeom>
          <a:solidFill>
            <a:srgbClr val="0891B2">
              <a:alpha val="8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2" name="Text 100"/>
          <p:cNvSpPr/>
          <p:nvPr/>
        </p:nvSpPr>
        <p:spPr>
          <a:xfrm>
            <a:off x="329184" y="3600087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train/test=0,124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1481328" y="3536079"/>
            <a:ext cx="2907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RF gap=0,218 (train AUC=1,000) — bien moins d'overfitting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690872" y="3536079"/>
            <a:ext cx="4206240" cy="34747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5" name="Shape 103"/>
          <p:cNvSpPr/>
          <p:nvPr/>
        </p:nvSpPr>
        <p:spPr>
          <a:xfrm>
            <a:off x="4764024" y="3600087"/>
            <a:ext cx="1097280" cy="201168"/>
          </a:xfrm>
          <a:prstGeom prst="roundRect">
            <a:avLst>
              <a:gd name="adj" fmla="val 18182"/>
            </a:avLst>
          </a:prstGeom>
          <a:solidFill>
            <a:srgbClr val="EF4444">
              <a:alpha val="8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6" name="Text 104"/>
          <p:cNvSpPr/>
          <p:nvPr/>
        </p:nvSpPr>
        <p:spPr>
          <a:xfrm>
            <a:off x="4764024" y="3600087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écarté</a:t>
            </a:r>
            <a:endParaRPr lang="en-US" sz="800" dirty="0"/>
          </a:p>
        </p:txBody>
      </p:sp>
      <p:sp>
        <p:nvSpPr>
          <p:cNvPr id="107" name="Text 105"/>
          <p:cNvSpPr/>
          <p:nvPr/>
        </p:nvSpPr>
        <p:spPr>
          <a:xfrm>
            <a:off x="5916168" y="3536079"/>
            <a:ext cx="2907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</a:t>
            </a: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0,19 = surcalibration — trop de faux positifs en production</a:t>
            </a:r>
            <a:endParaRPr lang="en-US" sz="900" dirty="0"/>
          </a:p>
        </p:txBody>
      </p:sp>
      <p:sp>
        <p:nvSpPr>
          <p:cNvPr id="108" name="Shape 106"/>
          <p:cNvSpPr/>
          <p:nvPr/>
        </p:nvSpPr>
        <p:spPr>
          <a:xfrm>
            <a:off x="256032" y="3938415"/>
            <a:ext cx="4206240" cy="34747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9" name="Shape 107"/>
          <p:cNvSpPr/>
          <p:nvPr/>
        </p:nvSpPr>
        <p:spPr>
          <a:xfrm>
            <a:off x="329184" y="4002423"/>
            <a:ext cx="1097280" cy="201168"/>
          </a:xfrm>
          <a:prstGeom prst="roundRect">
            <a:avLst>
              <a:gd name="adj" fmla="val 18182"/>
            </a:avLst>
          </a:prstGeom>
          <a:solidFill>
            <a:srgbClr val="94A3B8">
              <a:alpha val="8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0" name="Text 108"/>
          <p:cNvSpPr/>
          <p:nvPr/>
        </p:nvSpPr>
        <p:spPr>
          <a:xfrm>
            <a:off x="329184" y="4002423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RandomizedSearchCV</a:t>
            </a:r>
            <a:endParaRPr lang="en-US" sz="800" dirty="0"/>
          </a:p>
        </p:txBody>
      </p:sp>
      <p:sp>
        <p:nvSpPr>
          <p:cNvPr id="111" name="Text 109"/>
          <p:cNvSpPr/>
          <p:nvPr/>
        </p:nvSpPr>
        <p:spPr>
          <a:xfrm>
            <a:off x="1481328" y="3938415"/>
            <a:ext cx="2907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iter confirment les paramètres initiaux : F1=0,382 &gt; F1 optimisé=0,320</a:t>
            </a:r>
            <a:endParaRPr lang="en-US" sz="900" dirty="0"/>
          </a:p>
        </p:txBody>
      </p:sp>
      <p:sp>
        <p:nvSpPr>
          <p:cNvPr id="112" name="Shape 110"/>
          <p:cNvSpPr/>
          <p:nvPr/>
        </p:nvSpPr>
        <p:spPr>
          <a:xfrm>
            <a:off x="4690872" y="3938415"/>
            <a:ext cx="4206240" cy="34747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3" name="Shape 111"/>
          <p:cNvSpPr/>
          <p:nvPr/>
        </p:nvSpPr>
        <p:spPr>
          <a:xfrm>
            <a:off x="4764024" y="4002423"/>
            <a:ext cx="1097280" cy="201168"/>
          </a:xfrm>
          <a:prstGeom prst="roundRect">
            <a:avLst>
              <a:gd name="adj" fmla="val 18182"/>
            </a:avLst>
          </a:prstGeom>
          <a:solidFill>
            <a:srgbClr val="10B981">
              <a:alpha val="8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4" name="Text 112"/>
          <p:cNvSpPr/>
          <p:nvPr/>
        </p:nvSpPr>
        <p:spPr>
          <a:xfrm>
            <a:off x="4764024" y="4002423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K-Fold k=5</a:t>
            </a:r>
            <a:endParaRPr lang="en-US" sz="800" dirty="0"/>
          </a:p>
        </p:txBody>
      </p:sp>
      <p:sp>
        <p:nvSpPr>
          <p:cNvPr id="115" name="Text 113"/>
          <p:cNvSpPr/>
          <p:nvPr/>
        </p:nvSpPr>
        <p:spPr>
          <a:xfrm>
            <a:off x="5916168" y="3938415"/>
            <a:ext cx="2907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F1=0,185 ± 0,011 — faible variance, modèle stable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046720" y="466344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14630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Interprétabilité &amp; Analyse Métier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8595360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56032" y="749808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Gradient Boosting — valeurs réelles du modèle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56032" y="1042416"/>
            <a:ext cx="16642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tenure_months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956816" y="1069848"/>
            <a:ext cx="1828800" cy="16459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3840480" y="1042416"/>
            <a:ext cx="6217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21,9 %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35424" y="1042416"/>
            <a:ext cx="4297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Ancienneté protectrice — nouveaux clients les plus à risque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56032" y="1612083"/>
            <a:ext cx="16642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monthly_logins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956816" y="1639515"/>
            <a:ext cx="1719072" cy="164592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3840480" y="1612083"/>
            <a:ext cx="6217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A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18,8 %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35424" y="1612083"/>
            <a:ext cx="4297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Baisse d'engagement = signal de désintérêt précoce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56032" y="1959555"/>
            <a:ext cx="16642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payment_failures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956816" y="1986987"/>
            <a:ext cx="1225296" cy="16459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3840480" y="1959555"/>
            <a:ext cx="6217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15,8 %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535424" y="1959555"/>
            <a:ext cx="4297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 CRM prioritaire — difficultés financières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56032" y="2307027"/>
            <a:ext cx="16642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avg_session_time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956816" y="2334459"/>
            <a:ext cx="969264" cy="16459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3840480" y="2307027"/>
            <a:ext cx="6217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7,9 %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535424" y="2307027"/>
            <a:ext cx="4297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 d'usage en baisse = perte d'intérêt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56032" y="2654499"/>
            <a:ext cx="16642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total_revenue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956816" y="2681931"/>
            <a:ext cx="640080" cy="164592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3840480" y="2654499"/>
            <a:ext cx="6217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A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5,7 %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535424" y="2654499"/>
            <a:ext cx="4297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client cumulée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56032" y="3001971"/>
            <a:ext cx="16642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nps_score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956816" y="3029403"/>
            <a:ext cx="621792" cy="16459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3840480" y="3001971"/>
            <a:ext cx="6217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4,1 %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535424" y="3001971"/>
            <a:ext cx="4297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négatif = insatisfaction mesurable avant résiliation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256032" y="3349443"/>
            <a:ext cx="16642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956816" y="3376875"/>
            <a:ext cx="512064" cy="164592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3840480" y="3349443"/>
            <a:ext cx="6217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3,3 %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535424" y="3349443"/>
            <a:ext cx="4297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démographique modérée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256032" y="3602736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SHAP — Scénario 2 (ÉLEVÉ, 62,9 %)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56032" y="3895344"/>
            <a:ext cx="4206240" cy="347472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7" name="Shape 35"/>
          <p:cNvSpPr/>
          <p:nvPr/>
        </p:nvSpPr>
        <p:spPr>
          <a:xfrm>
            <a:off x="256032" y="3895344"/>
            <a:ext cx="36576" cy="347472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365760" y="3895344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tenure_months = 1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267712" y="3968496"/>
            <a:ext cx="640080" cy="201168"/>
          </a:xfrm>
          <a:prstGeom prst="roundRect">
            <a:avLst>
              <a:gd name="adj" fmla="val 18182"/>
            </a:avLst>
          </a:prstGeom>
          <a:solidFill>
            <a:srgbClr val="EF4444">
              <a:alpha val="78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2267712" y="3968496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999232" y="3895344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 ancienneté = contribution positive majeure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690872" y="3895344"/>
            <a:ext cx="4206240" cy="347472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3" name="Shape 41"/>
          <p:cNvSpPr/>
          <p:nvPr/>
        </p:nvSpPr>
        <p:spPr>
          <a:xfrm>
            <a:off x="4690872" y="3895344"/>
            <a:ext cx="36576" cy="347472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4" name="Text 42"/>
          <p:cNvSpPr/>
          <p:nvPr/>
        </p:nvSpPr>
        <p:spPr>
          <a:xfrm>
            <a:off x="4800600" y="3895344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monthly_logins = 17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702552" y="3968496"/>
            <a:ext cx="640080" cy="201168"/>
          </a:xfrm>
          <a:prstGeom prst="roundRect">
            <a:avLst>
              <a:gd name="adj" fmla="val 18182"/>
            </a:avLst>
          </a:prstGeom>
          <a:solidFill>
            <a:srgbClr val="EF4444">
              <a:alpha val="78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6" name="Text 44"/>
          <p:cNvSpPr/>
          <p:nvPr/>
        </p:nvSpPr>
        <p:spPr>
          <a:xfrm>
            <a:off x="6702552" y="3968496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434072" y="3895344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Connexions faibles = signal de désengagement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56032" y="4297680"/>
            <a:ext cx="4206240" cy="347472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9" name="Shape 47"/>
          <p:cNvSpPr/>
          <p:nvPr/>
        </p:nvSpPr>
        <p:spPr>
          <a:xfrm>
            <a:off x="256032" y="4297680"/>
            <a:ext cx="36576" cy="34747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0" name="Text 48"/>
          <p:cNvSpPr/>
          <p:nvPr/>
        </p:nvSpPr>
        <p:spPr>
          <a:xfrm>
            <a:off x="365760" y="429768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nps_score = -57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2267712" y="4370832"/>
            <a:ext cx="640080" cy="201168"/>
          </a:xfrm>
          <a:prstGeom prst="roundRect">
            <a:avLst>
              <a:gd name="adj" fmla="val 18182"/>
            </a:avLst>
          </a:prstGeom>
          <a:solidFill>
            <a:srgbClr val="F59E0B">
              <a:alpha val="78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2" name="Text 50"/>
          <p:cNvSpPr/>
          <p:nvPr/>
        </p:nvSpPr>
        <p:spPr>
          <a:xfrm>
            <a:off x="2267712" y="4370832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999232" y="4297680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très négatif = insatisfaction critique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690872" y="4297680"/>
            <a:ext cx="4206240" cy="347472"/>
          </a:xfrm>
          <a:prstGeom prst="rect">
            <a:avLst/>
          </a:prstGeom>
          <a:solidFill>
            <a:srgbClr val="1220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5" name="Shape 53"/>
          <p:cNvSpPr/>
          <p:nvPr/>
        </p:nvSpPr>
        <p:spPr>
          <a:xfrm>
            <a:off x="4690872" y="4297680"/>
            <a:ext cx="36576" cy="34747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6" name="Text 54"/>
          <p:cNvSpPr/>
          <p:nvPr/>
        </p:nvSpPr>
        <p:spPr>
          <a:xfrm>
            <a:off x="4800600" y="429768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payment_failures = 2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702552" y="4370832"/>
            <a:ext cx="640080" cy="201168"/>
          </a:xfrm>
          <a:prstGeom prst="roundRect">
            <a:avLst>
              <a:gd name="adj" fmla="val 18182"/>
            </a:avLst>
          </a:prstGeom>
          <a:solidFill>
            <a:srgbClr val="F59E0B">
              <a:alpha val="78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8" name="Text 56"/>
          <p:cNvSpPr/>
          <p:nvPr/>
        </p:nvSpPr>
        <p:spPr>
          <a:xfrm>
            <a:off x="6702552" y="4370832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7434072" y="4297680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Echecs de paiement = alerte comportementale</a:t>
            </a:r>
            <a:endParaRPr lang="en-US" sz="850" dirty="0"/>
          </a:p>
        </p:txBody>
      </p:sp>
      <p:sp>
        <p:nvSpPr>
          <p:cNvPr id="60" name="Text 9">
            <a:extLst>
              <a:ext uri="{FF2B5EF4-FFF2-40B4-BE49-F238E27FC236}">
                <a16:creationId xmlns:a16="http://schemas.microsoft.com/office/drawing/2014/main" id="{6169F89B-846E-B763-6003-7B1F7F1CFFCD}"/>
              </a:ext>
            </a:extLst>
          </p:cNvPr>
          <p:cNvSpPr/>
          <p:nvPr/>
        </p:nvSpPr>
        <p:spPr>
          <a:xfrm>
            <a:off x="254605" y="1311556"/>
            <a:ext cx="16642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monthly_logins</a:t>
            </a:r>
            <a:endParaRPr lang="en-US" sz="850" dirty="0"/>
          </a:p>
        </p:txBody>
      </p:sp>
      <p:sp>
        <p:nvSpPr>
          <p:cNvPr id="61" name="Shape 10">
            <a:extLst>
              <a:ext uri="{FF2B5EF4-FFF2-40B4-BE49-F238E27FC236}">
                <a16:creationId xmlns:a16="http://schemas.microsoft.com/office/drawing/2014/main" id="{1AEBA406-B6EC-A0A3-F372-06DC23D53C44}"/>
              </a:ext>
            </a:extLst>
          </p:cNvPr>
          <p:cNvSpPr/>
          <p:nvPr/>
        </p:nvSpPr>
        <p:spPr>
          <a:xfrm>
            <a:off x="1955389" y="1338988"/>
            <a:ext cx="1810512" cy="164592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2" name="Text 11">
            <a:extLst>
              <a:ext uri="{FF2B5EF4-FFF2-40B4-BE49-F238E27FC236}">
                <a16:creationId xmlns:a16="http://schemas.microsoft.com/office/drawing/2014/main" id="{ACF1236D-7AEE-D819-1834-5131E8BA12AD}"/>
              </a:ext>
            </a:extLst>
          </p:cNvPr>
          <p:cNvSpPr/>
          <p:nvPr/>
        </p:nvSpPr>
        <p:spPr>
          <a:xfrm>
            <a:off x="3839053" y="1311556"/>
            <a:ext cx="6217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A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19,4 %</a:t>
            </a:r>
            <a:endParaRPr lang="en-US" sz="850" dirty="0"/>
          </a:p>
        </p:txBody>
      </p:sp>
      <p:sp>
        <p:nvSpPr>
          <p:cNvPr id="63" name="Text 12">
            <a:extLst>
              <a:ext uri="{FF2B5EF4-FFF2-40B4-BE49-F238E27FC236}">
                <a16:creationId xmlns:a16="http://schemas.microsoft.com/office/drawing/2014/main" id="{8B351987-3AB3-6125-DA43-BBDCC9C73659}"/>
              </a:ext>
            </a:extLst>
          </p:cNvPr>
          <p:cNvSpPr/>
          <p:nvPr/>
        </p:nvSpPr>
        <p:spPr>
          <a:xfrm>
            <a:off x="4533997" y="1311556"/>
            <a:ext cx="4297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Baisse d'engagement = signal de désintérêt précoce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046720" y="466344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14630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Streamlit &amp; Démo Live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8595360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56032" y="749808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 run dashboard/app.py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2011680" cy="192024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228600" y="969264"/>
            <a:ext cx="201168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960120" y="1033272"/>
            <a:ext cx="475488" cy="47548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960120" y="10332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040" y="157276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1883664"/>
            <a:ext cx="1828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: 1 021 clients à risque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862 640 € de revenu identifié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chart Fidèles vs Churners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par type de contrat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441448" y="969264"/>
            <a:ext cx="2011680" cy="192024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2441448" y="969264"/>
            <a:ext cx="2011680" cy="45720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3172968" y="1033272"/>
            <a:ext cx="475488" cy="475488"/>
          </a:xfrm>
          <a:prstGeom prst="ellipse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3172968" y="10332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532888" y="157276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Clients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532888" y="1883664"/>
            <a:ext cx="1828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Histogramme variable vs churn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 interactive features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 de corrélation Plotly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Superposition fidèles / churners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654296" y="969264"/>
            <a:ext cx="2011680" cy="192024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4654296" y="969264"/>
            <a:ext cx="20116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5385816" y="1033272"/>
            <a:ext cx="475488" cy="47548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5385816" y="10332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45736" y="157276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Modèles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745736" y="1883664"/>
            <a:ext cx="1828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métriques stylisé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Courbes ROC comparées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top 15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Matrices de confusion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867144" y="969264"/>
            <a:ext cx="2011680" cy="1920240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6867144" y="969264"/>
            <a:ext cx="2011680" cy="457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7598664" y="1033272"/>
            <a:ext cx="475488" cy="47548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7598664" y="10332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958584" y="157276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Client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958584" y="1883664"/>
            <a:ext cx="1828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paramètres ajustables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via API FastAPI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Jauge de risque animée Plotly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 / MODÉRÉ / ÉLEVÉ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56032" y="2999232"/>
            <a:ext cx="8595360" cy="1536192"/>
          </a:xfrm>
          <a:prstGeom prst="rect">
            <a:avLst/>
          </a:prstGeom>
          <a:solidFill>
            <a:srgbClr val="0A152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256032" y="2999232"/>
            <a:ext cx="859536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Shape 31"/>
          <p:cNvSpPr/>
          <p:nvPr/>
        </p:nvSpPr>
        <p:spPr>
          <a:xfrm>
            <a:off x="347472" y="3090672"/>
            <a:ext cx="960120" cy="18288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347472" y="3090672"/>
            <a:ext cx="960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 LIVE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389888" y="3072384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(FAIBLE, 6,0 %) : 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tenure=56 mois, logins=44, payment_failures=0, NPS=+8, </a:t>
            </a:r>
            <a:r>
              <a:rPr lang="en-US" sz="95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csat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=5  →  revenu à </a:t>
            </a:r>
            <a:r>
              <a:rPr lang="en-US" sz="95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</a:t>
            </a:r>
            <a:r>
              <a:rPr 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7 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€/an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389888" y="3346704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(ÉLEVÉ, 62,9 %) : 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tenure=1 mois, logins=17, payment_failures=2, NPS=-57,  </a:t>
            </a:r>
            <a:r>
              <a:rPr lang="en-US" sz="95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csat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=1 →  revenu à </a:t>
            </a:r>
            <a:r>
              <a:rPr lang="en-US" sz="95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226 €/an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47472" y="3666744"/>
            <a:ext cx="8321040" cy="13716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Shape 36"/>
          <p:cNvSpPr/>
          <p:nvPr/>
        </p:nvSpPr>
        <p:spPr>
          <a:xfrm>
            <a:off x="347472" y="3749040"/>
            <a:ext cx="896112" cy="173736"/>
          </a:xfrm>
          <a:prstGeom prst="roundRect">
            <a:avLst>
              <a:gd name="adj" fmla="val 21053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347472" y="3749040"/>
            <a:ext cx="89611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325880" y="3767328"/>
            <a:ext cx="438912" cy="155448"/>
          </a:xfrm>
          <a:prstGeom prst="roundRect">
            <a:avLst>
              <a:gd name="adj" fmla="val 23529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1" name="Text 39"/>
          <p:cNvSpPr/>
          <p:nvPr/>
        </p:nvSpPr>
        <p:spPr>
          <a:xfrm>
            <a:off x="1325880" y="3767328"/>
            <a:ext cx="43891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1819656" y="3767328"/>
            <a:ext cx="164592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/health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3794760" y="3767328"/>
            <a:ext cx="438912" cy="155448"/>
          </a:xfrm>
          <a:prstGeom prst="roundRect">
            <a:avLst>
              <a:gd name="adj" fmla="val 23529"/>
            </a:avLst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4" name="Text 42"/>
          <p:cNvSpPr/>
          <p:nvPr/>
        </p:nvSpPr>
        <p:spPr>
          <a:xfrm>
            <a:off x="3794760" y="3767328"/>
            <a:ext cx="43891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288536" y="3767328"/>
            <a:ext cx="164592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/predict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263640" y="3767328"/>
            <a:ext cx="438912" cy="155448"/>
          </a:xfrm>
          <a:prstGeom prst="roundRect">
            <a:avLst>
              <a:gd name="adj" fmla="val 23529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7" name="Text 45"/>
          <p:cNvSpPr/>
          <p:nvPr/>
        </p:nvSpPr>
        <p:spPr>
          <a:xfrm>
            <a:off x="6263640" y="3767328"/>
            <a:ext cx="43891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757416" y="3767328"/>
            <a:ext cx="164592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/model-info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347472" y="4005072"/>
            <a:ext cx="8321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auto-généré : localhost:8000/docs  |  Validation Pydantic  |  Front / API / Modèle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046720" y="466344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14630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Gouvernance, Limites &amp; Perspectives d'Amélioration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8595360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256032" y="749808"/>
            <a:ext cx="8595360" cy="402336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56032" y="749808"/>
            <a:ext cx="45720" cy="40233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84048" y="749808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: 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83664" y="749808"/>
            <a:ext cx="6858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 d'aide à la décision — pas une réponse absolue. Validation humaine </a:t>
            </a:r>
            <a:r>
              <a:rPr lang="en-US" sz="95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recommandée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Pipeline reproductible, modèles versionnés.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56032" y="1261872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identifiées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6032" y="1554480"/>
            <a:ext cx="4206240" cy="38404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256032" y="1554480"/>
            <a:ext cx="36576" cy="38404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365760" y="1554480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</a:t>
            </a:r>
            <a:r>
              <a:rPr lang="en-US" sz="9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supplémentaires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760" y="1755648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</a:t>
            </a:r>
            <a:r>
              <a:rPr lang="en-US" sz="9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avoir</a:t>
            </a: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meilleures</a:t>
            </a: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precisions avec les </a:t>
            </a:r>
            <a:r>
              <a:rPr lang="en-US" sz="9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56032" y="2011680"/>
            <a:ext cx="4206240" cy="38404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256032" y="2011680"/>
            <a:ext cx="36576" cy="38404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365760" y="2011680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Surapprentissage RF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65760" y="2212848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train=1,000 vs test=0,782 — gap=0,218 — absence de max_depth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90872" y="1763029"/>
            <a:ext cx="4206240" cy="38404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4690872" y="1763029"/>
            <a:ext cx="36576" cy="38404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4800600" y="1763029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: intérêt limité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800600" y="1964197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F1=0,358 &lt; GB (0,391) malgré coût computationnel plus élevé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56032" y="2468880"/>
            <a:ext cx="4206240" cy="38404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256032" y="2468880"/>
            <a:ext cx="36576" cy="38404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365760" y="2468880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de temporalité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65760" y="2670048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Tendances d'évolution plus prédictives que valeurs instantanées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90872" y="2220229"/>
            <a:ext cx="4206240" cy="38404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4690872" y="2220229"/>
            <a:ext cx="36576" cy="38404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4800600" y="2220229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monitoring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800600" y="2421397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détection de data drift en production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56032" y="2980944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 d'amélioration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186468" y="3273552"/>
            <a:ext cx="1627632" cy="129844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7" name="Shape 35"/>
          <p:cNvSpPr/>
          <p:nvPr/>
        </p:nvSpPr>
        <p:spPr>
          <a:xfrm>
            <a:off x="1186468" y="3273552"/>
            <a:ext cx="1627632" cy="457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1259620" y="3364992"/>
            <a:ext cx="1481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/ LightGBM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259620" y="3749040"/>
            <a:ext cx="148132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Boosting plus performant, robuste au déséquilibre nativement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923828" y="3273552"/>
            <a:ext cx="1627632" cy="129844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1" name="Shape 39"/>
          <p:cNvSpPr/>
          <p:nvPr/>
        </p:nvSpPr>
        <p:spPr>
          <a:xfrm>
            <a:off x="2923828" y="3273552"/>
            <a:ext cx="1627632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2996980" y="3364992"/>
            <a:ext cx="1481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temporelles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996980" y="3749040"/>
            <a:ext cx="148132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d'usage et d'engagement sur les derniers mois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661188" y="3273552"/>
            <a:ext cx="1627632" cy="129844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5" name="Shape 43"/>
          <p:cNvSpPr/>
          <p:nvPr/>
        </p:nvSpPr>
        <p:spPr>
          <a:xfrm>
            <a:off x="4661188" y="3273552"/>
            <a:ext cx="1627632" cy="45720"/>
          </a:xfrm>
          <a:prstGeom prst="rect">
            <a:avLst/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6" name="Text 44"/>
          <p:cNvSpPr/>
          <p:nvPr/>
        </p:nvSpPr>
        <p:spPr>
          <a:xfrm>
            <a:off x="4734340" y="3364992"/>
            <a:ext cx="1481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drift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734340" y="3749040"/>
            <a:ext cx="148132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+ réentraînement périodique automatique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398548" y="3273552"/>
            <a:ext cx="1627632" cy="1298448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9" name="Shape 47"/>
          <p:cNvSpPr/>
          <p:nvPr/>
        </p:nvSpPr>
        <p:spPr>
          <a:xfrm>
            <a:off x="6398548" y="3273552"/>
            <a:ext cx="1627632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0" name="Text 48"/>
          <p:cNvSpPr/>
          <p:nvPr/>
        </p:nvSpPr>
        <p:spPr>
          <a:xfrm>
            <a:off x="6471700" y="3364992"/>
            <a:ext cx="1481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CRM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471700" y="3749040"/>
            <a:ext cx="148132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déjà opérationnelle — connecter Salesforce / HubSpot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">
    <p:bg>
      <p:bgPr>
        <a:solidFill>
          <a:srgbClr val="0F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046720" y="466344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14630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Technique &amp; API REST FastAPI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8595360" cy="1828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56032" y="1495761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uvicorn api.main:app --port 8000  |  Documentation Swagger : localhost:8000/docs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256032" y="1788369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Front / API / Modèle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" y="2080977"/>
            <a:ext cx="2834640" cy="402336"/>
          </a:xfrm>
          <a:prstGeom prst="rect">
            <a:avLst/>
          </a:prstGeom>
          <a:solidFill>
            <a:srgbClr val="1A5EA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56032" y="2080977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Streamlit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56032" y="2318721"/>
            <a:ext cx="283464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utilisateur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56032" y="2492457"/>
            <a:ext cx="283464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HTTP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56032" y="2593041"/>
            <a:ext cx="2834640" cy="402336"/>
          </a:xfrm>
          <a:prstGeom prst="rect">
            <a:avLst/>
          </a:prstGeom>
          <a:solidFill>
            <a:srgbClr val="0891B2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256032" y="2593041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FastAPI :8000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56032" y="2830785"/>
            <a:ext cx="283464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d'inférence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56032" y="3004521"/>
            <a:ext cx="283464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HTTP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56032" y="3105105"/>
            <a:ext cx="2834640" cy="402336"/>
          </a:xfrm>
          <a:prstGeom prst="rect">
            <a:avLst/>
          </a:prstGeom>
          <a:solidFill>
            <a:srgbClr val="F59E0B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256032" y="3105105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.pkl (joblib)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56032" y="3342849"/>
            <a:ext cx="283464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· RF · GB · MLP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56032" y="3516585"/>
            <a:ext cx="283464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HTTP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56032" y="3617169"/>
            <a:ext cx="2834640" cy="402336"/>
          </a:xfrm>
          <a:prstGeom prst="rect">
            <a:avLst/>
          </a:prstGeom>
          <a:solidFill>
            <a:srgbClr val="10B98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256032" y="3617169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JSON client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6032" y="3854913"/>
            <a:ext cx="283464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churn_probability, risk_level...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337560" y="1788369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Endpoints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37560" y="2080977"/>
            <a:ext cx="5486400" cy="62179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3410712" y="2172417"/>
            <a:ext cx="594360" cy="219456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3410712" y="2172417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078224" y="2154129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/health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410712" y="2428449"/>
            <a:ext cx="5321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 du service + liste des 4 modèles chargés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337560" y="2812497"/>
            <a:ext cx="5486400" cy="62179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Shape 28"/>
          <p:cNvSpPr/>
          <p:nvPr/>
        </p:nvSpPr>
        <p:spPr>
          <a:xfrm>
            <a:off x="3410712" y="2903937"/>
            <a:ext cx="594360" cy="219456"/>
          </a:xfrm>
          <a:prstGeom prst="roundRect">
            <a:avLst>
              <a:gd name="adj" fmla="val 16667"/>
            </a:avLst>
          </a:prstGeom>
          <a:solidFill>
            <a:srgbClr val="1A5E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3410712" y="2903937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078224" y="2885649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/predict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410712" y="3159969"/>
            <a:ext cx="5321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Retourne churn_probability, risk_level, revenue_at_risk_annual, threshold_used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337560" y="3544017"/>
            <a:ext cx="5486400" cy="621792"/>
          </a:xfrm>
          <a:prstGeom prst="rect">
            <a:avLst/>
          </a:prstGeom>
          <a:solidFill>
            <a:srgbClr val="12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5" name="Shape 33"/>
          <p:cNvSpPr/>
          <p:nvPr/>
        </p:nvSpPr>
        <p:spPr>
          <a:xfrm>
            <a:off x="3410712" y="3635457"/>
            <a:ext cx="594360" cy="219456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3410712" y="3635457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078224" y="3617169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/model-info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410712" y="3891489"/>
            <a:ext cx="5321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des 4 modèles, paramètres, recommandation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274320" y="128016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603504"/>
            <a:ext cx="8595360" cy="2286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8046720" y="466344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28600" y="694944"/>
            <a:ext cx="1920240" cy="822960"/>
          </a:xfrm>
          <a:prstGeom prst="rect">
            <a:avLst/>
          </a:prstGeom>
          <a:solidFill>
            <a:srgbClr val="F59E0B">
              <a:alpha val="12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192024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28600" y="768096"/>
            <a:ext cx="1920240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28600" y="1205179"/>
            <a:ext cx="1920240" cy="3127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retenu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441448" y="694944"/>
            <a:ext cx="1920240" cy="822960"/>
          </a:xfrm>
          <a:prstGeom prst="rect">
            <a:avLst/>
          </a:prstGeom>
          <a:solidFill>
            <a:srgbClr val="10B981">
              <a:alpha val="12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441448" y="694944"/>
            <a:ext cx="1920240" cy="457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2441448" y="768096"/>
            <a:ext cx="1920240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0,391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441448" y="1205179"/>
            <a:ext cx="1920240" cy="3127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compromis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54296" y="694944"/>
            <a:ext cx="1920240" cy="822960"/>
          </a:xfrm>
          <a:prstGeom prst="rect">
            <a:avLst/>
          </a:prstGeom>
          <a:solidFill>
            <a:srgbClr val="0891B2">
              <a:alpha val="12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4654296" y="694944"/>
            <a:ext cx="192024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654296" y="768096"/>
            <a:ext cx="1920240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0,796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54296" y="1205179"/>
            <a:ext cx="1920240" cy="3127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Discrimination correct</a:t>
            </a:r>
          </a:p>
        </p:txBody>
      </p:sp>
      <p:sp>
        <p:nvSpPr>
          <p:cNvPr id="18" name="Shape 16"/>
          <p:cNvSpPr/>
          <p:nvPr/>
        </p:nvSpPr>
        <p:spPr>
          <a:xfrm>
            <a:off x="6867144" y="694944"/>
            <a:ext cx="1920240" cy="822960"/>
          </a:xfrm>
          <a:prstGeom prst="rect">
            <a:avLst/>
          </a:prstGeom>
          <a:solidFill>
            <a:srgbClr val="EF4444">
              <a:alpha val="12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6867144" y="694944"/>
            <a:ext cx="1920240" cy="4572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867144" y="768096"/>
            <a:ext cx="1920240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862 640 €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867144" y="1205179"/>
            <a:ext cx="1920240" cy="3127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 à sécuriser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56032" y="1989717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nous avons construit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56032" y="1768467"/>
            <a:ext cx="40233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notebooks exécutés — EDA, Modélisation, Déséquilibre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modèles entraînés + sérialisés (dont 1 Deep Learning)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sklearn complet sans data leakage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Streamlit 4 onglets orienté utilisateur métier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FastAPI 3 endpoints + documentation Swagger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663440" y="1989717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métier démontrée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63440" y="1956816"/>
            <a:ext cx="4206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1 021 clients à risque détectés sur 10 000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862 640 € de revenu annuel à sécuriser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avant résiliation — action préventive possible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Front / API / Modèle prête pour CRM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rigoureuse du déséquilibre 8,8:1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optimisé pour maximiser F1 en production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56032" y="4036179"/>
            <a:ext cx="8595360" cy="420624"/>
          </a:xfrm>
          <a:prstGeom prst="rect">
            <a:avLst/>
          </a:prstGeom>
          <a:solidFill>
            <a:srgbClr val="0A152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256032" y="4036179"/>
            <a:ext cx="859536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256032" y="4072755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attention   Questions 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1178</TotalTime>
  <Words>1899</Words>
  <Application>Microsoft Macintosh PowerPoint</Application>
  <PresentationFormat>Affichage à l'écran (16:9)</PresentationFormat>
  <Paragraphs>422</Paragraphs>
  <Slides>13</Slides>
  <Notes>13</Notes>
  <HiddenSlides>2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Consolas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Haci Yilmazer</cp:lastModifiedBy>
  <cp:revision>24</cp:revision>
  <dcterms:created xsi:type="dcterms:W3CDTF">2026-05-21T12:49:07Z</dcterms:created>
  <dcterms:modified xsi:type="dcterms:W3CDTF">2026-05-22T11:33:15Z</dcterms:modified>
</cp:coreProperties>
</file>