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495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préparation a été faite avec un pipeline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sklearn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complet : imputation, standardisation, encodage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One-Hot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tout encapsulé dans un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ColumnTransformer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éviter tout data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entre le train et le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test. Le split est stratifié 80/20. Le défi principal était le déséquilibre 8,8 pour 1. Pour montrer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c'est un vrai problème : un modèle qui prédit systématiquement 'pas de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obtiendrait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89,8 % d'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ce qui paraît excellent, mais son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zéro. Il ne détecte aucun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churner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C'est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on a travaillé avec le F1-score et le ROC-AUC comme métriques prioritaires, et on a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comparé trois techniques de gestion du déséquilibre. On a aussi optimisé le seuil de décision par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maximisation du F1 plutôt que de garder 0,5 par défaut.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06709" y="1129585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06709" y="1623361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Multi-Modèles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06709" y="2117137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Rétention Client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6709" y="2464609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l'Évaluation du Risque de Revenus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6709" y="2848657"/>
            <a:ext cx="4114800" cy="22860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06709" y="2994961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Churn Client : Classification Binaire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6709" y="3379009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 Yilmazer  |  Neil Ben Ayed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6709" y="3635041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 : Sarah Malaeb  |  Mastère DE &amp; IA 2025-2026  |  Mai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Problématique &amp; Besoin Utilisateur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8595360" cy="47548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45720" cy="47548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84048" y="749808"/>
            <a:ext cx="8366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système intelligent multi-modèles permettant de prédire le risque de churn et d'aider les équipes CRM à prioriser les actions de rétention."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2743200" cy="86868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 5x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16642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Fidéliser coûte 5 fois moins cher qu'acquérir un nouveau client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335024"/>
            <a:ext cx="2743200" cy="86868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1335024"/>
            <a:ext cx="274320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91840" y="14081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non détecté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16642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revenu récurrent définitive — impossible à récupérer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44768" y="1335024"/>
            <a:ext cx="2743200" cy="86868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144768" y="1335024"/>
            <a:ext cx="274320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36208" y="14081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SaaS/Télécom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36208" y="16642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mensuels — résiliation à tout moment — données disponibles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232257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cibles &amp; scénarios d'usage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615184"/>
            <a:ext cx="8595360" cy="4572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10896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" y="261518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CRM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44368" y="2706624"/>
            <a:ext cx="228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17520" y="2615184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clients à contacter, déclencher les actions de rétention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3145536"/>
            <a:ext cx="8595360" cy="4572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10896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" y="31455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Marketing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44368" y="3236976"/>
            <a:ext cx="228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017520" y="3145536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: quel est le risque si le NPS baisse ? Quelles actions cibler en priorité 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675888"/>
            <a:ext cx="8595360" cy="4572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10896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672" y="36758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Financière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44368" y="3767328"/>
            <a:ext cx="228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017520" y="3675888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 le revenu à risque, anticiper l'impact sur le chiffre d'affaires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4261104"/>
            <a:ext cx="8595360" cy="347472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56032" y="4261104"/>
            <a:ext cx="4572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84048" y="42611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 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83664" y="426110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862 640 € de revenu annuel identifié à risque — 1 021 clients détectés sur 10 000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Travail &amp; Organisation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2162429"/>
            <a:ext cx="8046720" cy="27432"/>
          </a:xfrm>
          <a:prstGeom prst="rect">
            <a:avLst/>
          </a:prstGeom>
          <a:solidFill>
            <a:srgbClr val="1A5EAA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77240" y="2016125"/>
            <a:ext cx="292608" cy="29260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201612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339469"/>
            <a:ext cx="1143000" cy="5486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11480" y="1339469"/>
            <a:ext cx="1143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394333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595501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+ dataset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67128" y="2016125"/>
            <a:ext cx="292608" cy="29260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167128" y="201612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01368" y="1339469"/>
            <a:ext cx="1143000" cy="5486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801368" y="1339469"/>
            <a:ext cx="1143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801368" y="1394333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01368" y="1595501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57016" y="2016125"/>
            <a:ext cx="292608" cy="29260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557016" y="201612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91256" y="1339469"/>
            <a:ext cx="1143000" cy="5486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191256" y="1339469"/>
            <a:ext cx="1143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191256" y="1394333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91256" y="1595501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sklearn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46904" y="2016125"/>
            <a:ext cx="292608" cy="29260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46904" y="201612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81144" y="1339469"/>
            <a:ext cx="1143000" cy="5486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581144" y="1339469"/>
            <a:ext cx="1143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81144" y="1394333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81144" y="1595501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+ seuil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36792" y="2016125"/>
            <a:ext cx="292608" cy="29260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336792" y="201612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71032" y="1339469"/>
            <a:ext cx="1143000" cy="5486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971032" y="1339469"/>
            <a:ext cx="1143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971032" y="1394333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Interp+Deploy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71032" y="1595501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Dashboard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726680" y="2016125"/>
            <a:ext cx="292608" cy="29260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726680" y="201612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60920" y="1339469"/>
            <a:ext cx="1143000" cy="5486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7360920" y="1339469"/>
            <a:ext cx="1143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360920" y="1394333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60920" y="1595501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sections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6032" y="290728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rencontrés et solutions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56032" y="3199888"/>
            <a:ext cx="4206240" cy="420624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329184" y="3309616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329184" y="3309616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572768" y="319988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8,8:1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834640" y="3291328"/>
            <a:ext cx="18288" cy="2377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889504" y="319988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Pondération, sample_weight, optimisation du seuil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90872" y="3199888"/>
            <a:ext cx="4206240" cy="420624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764024" y="3309616"/>
            <a:ext cx="1170432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764024" y="3309616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007608" y="319988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trompeuse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269480" y="3291328"/>
            <a:ext cx="18288" cy="2377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7324344" y="319988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Recall, ROC-AUC, PR-AUC comme métriques prioritaires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de Données &amp; Dataset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1920240" cy="77724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822960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1231697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749808"/>
            <a:ext cx="1920240" cy="777240"/>
          </a:xfrm>
          <a:prstGeom prst="rect">
            <a:avLst/>
          </a:prstGeom>
          <a:solidFill>
            <a:srgbClr val="1A5EAA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450592" y="749808"/>
            <a:ext cx="1920240" cy="45720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450592" y="822960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231697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749808"/>
            <a:ext cx="1920240" cy="77724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45152" y="749808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45152" y="822960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10,2 %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45152" y="1231697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39712" y="749808"/>
            <a:ext cx="1920240" cy="77724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839712" y="749808"/>
            <a:ext cx="192024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39712" y="822960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8,8:1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39712" y="1231697"/>
            <a:ext cx="1920240" cy="295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" y="16459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retenues pour la modélisation (12)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1938528"/>
            <a:ext cx="4160520" cy="120700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56032" y="1938528"/>
            <a:ext cx="45720" cy="1207008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1993392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267712"/>
            <a:ext cx="399592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tenure_months · monthly_fee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total_revenue · payment_failures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support_tickets · avg_session_time</a:t>
            </a:r>
            <a:endParaRPr lang="en-US" sz="950" dirty="0"/>
          </a:p>
          <a:p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monthly_logins ·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nps_score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csat_score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1938528"/>
            <a:ext cx="4233672" cy="120700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17720" y="1938528"/>
            <a:ext cx="45720" cy="1207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27448" y="199339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Catégorielles (2)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2267712"/>
            <a:ext cx="4069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: Male / Female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contract_type : Monthly / Yearly / Quarterly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Encodées par OneHotEncoder (handle_unknown='ignore')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" y="325526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exclues — justification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547872"/>
            <a:ext cx="4206240" cy="40233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56032" y="3547872"/>
            <a:ext cx="36576" cy="4023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65760" y="35478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27632" y="3547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technique — aucune valeur prédictive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90872" y="3547872"/>
            <a:ext cx="4206240" cy="40233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690872" y="3547872"/>
            <a:ext cx="36576" cy="4023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00600" y="35478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col. num.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62472" y="3547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avec churn quasi nulle (|r| &lt; 0,04)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30261" y="4023360"/>
            <a:ext cx="4206240" cy="40233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2630251" y="4023360"/>
            <a:ext cx="36576" cy="4023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739979" y="402336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region, city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01851" y="40233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churn identique (~10 %) quelle que soit la modalité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des Données (EDA)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929272"/>
            <a:ext cx="8595360" cy="402336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929272"/>
            <a:ext cx="45720" cy="40233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84048" y="9292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929272"/>
            <a:ext cx="6949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10,2 % churners (1 021) vs 89,8 % fidèles (8 979)  —  Déséquilibre 8,8:1  —  Risque d'accuracy trompeuse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" y="144133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hypothèses métier confirmées par l'EDA — ordre d'importance réel du modèle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70520"/>
            <a:ext cx="8595360" cy="71323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56032" y="1770520"/>
            <a:ext cx="45720" cy="7132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7472" y="189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8070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tenure_months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1834528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0891B2">
              <a:alpha val="7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88920" y="183452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23,2 %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20997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la plus importante. Clients &lt; 6 mois : risque très élevé. Au-delà de 24 mois : forte inertie. Ancienneté = switching cost élevé.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611768"/>
            <a:ext cx="8595360" cy="71323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56032" y="2611768"/>
            <a:ext cx="45720" cy="7132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273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26483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monthly_logins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2675776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1A5EAA">
              <a:alpha val="7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88920" y="26757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21,8 %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294095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de connexions = signal de désintérêt précoce. Clients très actifs : quasi jamais churners. Actionnable par campagne de réengagement.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453016"/>
            <a:ext cx="8595360" cy="71323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56032" y="3453016"/>
            <a:ext cx="4572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47472" y="3581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3489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payment_failures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88920" y="3517024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F59E0B">
              <a:alpha val="7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88920" y="35170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15,5 %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" y="378220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1 à 2 échecs : risque augmente sensiblement. Indicateur de difficultés financières ou d'insatisfaction. Actionnable par relance immédiate.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 &amp; Gestion du Déséquilibre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01168" y="749808"/>
            <a:ext cx="1261872" cy="804672"/>
          </a:xfrm>
          <a:prstGeom prst="rect">
            <a:avLst/>
          </a:prstGeom>
          <a:solidFill>
            <a:srgbClr val="0F2A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01168" y="74980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89888" y="10241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82496" y="749808"/>
            <a:ext cx="1261872" cy="804672"/>
          </a:xfrm>
          <a:prstGeom prst="rect">
            <a:avLst/>
          </a:prstGeom>
          <a:solidFill>
            <a:srgbClr val="1A5EA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682496" y="74980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stratifié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71216" y="10241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63824" y="749808"/>
            <a:ext cx="1261872" cy="804672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63824" y="74980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52544" y="10241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45152" y="749808"/>
            <a:ext cx="1261872" cy="804672"/>
          </a:xfrm>
          <a:prstGeom prst="rect">
            <a:avLst/>
          </a:prstGeom>
          <a:solidFill>
            <a:srgbClr val="1A5EA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45152" y="74980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833872" y="10241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749808"/>
            <a:ext cx="1261872" cy="804672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126480" y="74980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0" y="10241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07808" y="749808"/>
            <a:ext cx="1261872" cy="804672"/>
          </a:xfrm>
          <a:prstGeom prst="rect">
            <a:avLst/>
          </a:prstGeom>
          <a:solidFill>
            <a:srgbClr val="1A5EA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607808" y="74980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1700784"/>
            <a:ext cx="4023360" cy="128016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56032" y="1700784"/>
            <a:ext cx="45720" cy="1280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84048" y="1755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naïf — accuracy trompeuse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2048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toujours 'Fidèle' 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226771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89,8 %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912" y="2560320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73352" y="226771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73352" y="2560320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07792" y="226771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907792" y="2560320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" y="27980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retenues : F1, Recall, ROC-AUC, PR-AUC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34840" y="1700784"/>
            <a:ext cx="4434840" cy="128016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434840" y="1700784"/>
            <a:ext cx="45720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62856" y="17556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techniques comparées (Logistic Regression)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62856" y="204825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                                                                                            Recall                   F1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62856" y="224942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69480" y="22494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0,343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72400" y="22494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62856" y="2423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69480" y="24231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772400" y="24231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62856" y="259689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Under-Sampling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69480" y="259689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0,392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72400" y="259689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0,317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62856" y="2752344"/>
            <a:ext cx="4206240" cy="182880"/>
          </a:xfrm>
          <a:prstGeom prst="rect">
            <a:avLst/>
          </a:prstGeom>
          <a:solidFill>
            <a:srgbClr val="0891B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562856" y="27706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sample_weight → GB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69480" y="27706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0,799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772400" y="27706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0,391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6032" y="3090672"/>
            <a:ext cx="8595360" cy="1335024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56032" y="3090672"/>
            <a:ext cx="45720" cy="133502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84048" y="31455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du seuil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4048" y="3383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Balayage 0,05 à 0,95 par pas de 0,01 — maximisation du F1-score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: seuil=0,48 (calibration naturelle)  |  RF : seuil=0,19 (surcalibration, signe d'overfitting)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63440" y="31455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K-Fold (k=5)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63440" y="3383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+ SMOTE — 5 folds stratifiés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moyen = 0,185 ± 0,011  |  ROC-AUC = 0,785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écart-type confirme la stabilité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 Science &amp; Les 4 Modèles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bout en bout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987552" cy="457200"/>
          </a:xfrm>
          <a:prstGeom prst="rect">
            <a:avLst/>
          </a:prstGeom>
          <a:solidFill>
            <a:srgbClr val="0F2A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Brut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07008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62456" y="1005840"/>
            <a:ext cx="987552" cy="4572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362456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1343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987552" cy="457200"/>
          </a:xfrm>
          <a:prstGeom prst="rect">
            <a:avLst/>
          </a:prstGeom>
          <a:solidFill>
            <a:srgbClr val="1A5EA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68880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19856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75304" y="1005840"/>
            <a:ext cx="987552" cy="4572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575304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26280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1005840"/>
            <a:ext cx="987552" cy="457200"/>
          </a:xfrm>
          <a:prstGeom prst="rect">
            <a:avLst/>
          </a:prstGeom>
          <a:solidFill>
            <a:srgbClr val="1A5EA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681728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32704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88152" y="1005840"/>
            <a:ext cx="987552" cy="4572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788152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39128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94576" y="1005840"/>
            <a:ext cx="987552" cy="457200"/>
          </a:xfrm>
          <a:prstGeom prst="rect">
            <a:avLst/>
          </a:prstGeom>
          <a:solidFill>
            <a:srgbClr val="1A5EA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894576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4555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0" y="1005840"/>
            <a:ext cx="987552" cy="4572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001000" y="100584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1609344"/>
            <a:ext cx="2029968" cy="318211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01168" y="1609344"/>
            <a:ext cx="2029968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92608" y="1700784"/>
            <a:ext cx="1188720" cy="182880"/>
          </a:xfrm>
          <a:prstGeom prst="roundRect">
            <a:avLst>
              <a:gd name="adj" fmla="val 20000"/>
            </a:avLst>
          </a:prstGeom>
          <a:solidFill>
            <a:srgbClr val="94A3B8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92608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2608" y="19202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" y="257860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class_weight='balanced'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max_iter=1000 · Seuil : 0,64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2608" y="3182112"/>
            <a:ext cx="1847088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92608" y="3236976"/>
            <a:ext cx="18470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de référence. Interprétable. Ne capture pas les non-linéarités.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14016" y="1609344"/>
            <a:ext cx="2029968" cy="318211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414016" y="1609344"/>
            <a:ext cx="2029968" cy="45720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2505456" y="1700784"/>
            <a:ext cx="1188720" cy="182880"/>
          </a:xfrm>
          <a:prstGeom prst="roundRect">
            <a:avLst>
              <a:gd name="adj" fmla="val 20000"/>
            </a:avLst>
          </a:prstGeom>
          <a:solidFill>
            <a:srgbClr val="1A5EAA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505456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Ensembliste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05456" y="19202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05456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05456" y="257860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n_estimators=200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class_weight='balanced' · Seuil : 0,19 ⚠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05456" y="3182112"/>
            <a:ext cx="1847088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505456" y="3236976"/>
            <a:ext cx="18470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train=1,000 — surapprentissage.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0,19 = mauvaise calibration.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26864" y="1609344"/>
            <a:ext cx="2029968" cy="3182112"/>
          </a:xfrm>
          <a:prstGeom prst="rect">
            <a:avLst/>
          </a:prstGeom>
          <a:solidFill>
            <a:srgbClr val="1A2E0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4626864" y="1609344"/>
            <a:ext cx="2029968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718304" y="1700784"/>
            <a:ext cx="1188720" cy="182880"/>
          </a:xfrm>
          <a:prstGeom prst="roundRect">
            <a:avLst>
              <a:gd name="adj" fmla="val 20000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718304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18304" y="19202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18304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18304" y="257860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n_estimators=200, lr=0,05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max_depth=4, sample_weight · Seuil : 0,48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18304" y="3182112"/>
            <a:ext cx="1847088" cy="182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718304" y="3236976"/>
            <a:ext cx="18470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F1 et AUC. Seuil 0,53 = calibration naturelle. SHAP disponible.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39712" y="1609344"/>
            <a:ext cx="2029968" cy="318211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6839712" y="1609344"/>
            <a:ext cx="2029968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6931152" y="1700784"/>
            <a:ext cx="1188720" cy="182880"/>
          </a:xfrm>
          <a:prstGeom prst="roundRect">
            <a:avLst>
              <a:gd name="adj" fmla="val 20000"/>
            </a:avLst>
          </a:prstGeom>
          <a:solidFill>
            <a:srgbClr val="0891B2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6931152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31152" y="19202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(Deep Learning)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931152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31152" y="257860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hidden=(128,64,32)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early_stopping=True · Seuil : 0,60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31152" y="3182112"/>
            <a:ext cx="1847088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6931152" y="3236976"/>
            <a:ext cx="184708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F1=0,358 &lt; GB. DL non supérieur ici. Coût computationnel plus élevé.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Comparatifs &amp; Choix du Modèle Final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90726" y="1072158"/>
            <a:ext cx="2075688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90726" y="1072158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93846" y="1072158"/>
            <a:ext cx="658368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893846" y="107215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79646" y="1072158"/>
            <a:ext cx="795528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79646" y="1072158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02606" y="1072158"/>
            <a:ext cx="795528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402606" y="1072158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25566" y="1072158"/>
            <a:ext cx="722376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225566" y="1072158"/>
            <a:ext cx="722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75374" y="1072158"/>
            <a:ext cx="722376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75374" y="1072158"/>
            <a:ext cx="722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25182" y="1072158"/>
            <a:ext cx="777240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725182" y="107215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29854" y="1072158"/>
            <a:ext cx="777240" cy="25603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529854" y="107215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90726" y="1364766"/>
            <a:ext cx="7397336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90726" y="1364766"/>
            <a:ext cx="2075688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90726" y="1364766"/>
            <a:ext cx="2075688" cy="265176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93846" y="1364766"/>
            <a:ext cx="658368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893846" y="136476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79646" y="1364766"/>
            <a:ext cx="795528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579646" y="136476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0,746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02606" y="1364766"/>
            <a:ext cx="795528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402606" y="136476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25566" y="1364766"/>
            <a:ext cx="722376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225566" y="136476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0,799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75374" y="1364766"/>
            <a:ext cx="722376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975374" y="136476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0,391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5182" y="1364766"/>
            <a:ext cx="777240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725182" y="136476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0,796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29854" y="1364766"/>
            <a:ext cx="777240" cy="265176"/>
          </a:xfrm>
          <a:prstGeom prst="rect">
            <a:avLst/>
          </a:prstGeom>
          <a:solidFill>
            <a:srgbClr val="1A2E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529854" y="136476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0,308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0726" y="1639086"/>
            <a:ext cx="207568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790726" y="1639086"/>
            <a:ext cx="2075688" cy="265176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(Deep Learning)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93846" y="1639086"/>
            <a:ext cx="65836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893846" y="163908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79646" y="1639086"/>
            <a:ext cx="79552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579646" y="163908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02606" y="1639086"/>
            <a:ext cx="79552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402606" y="163908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0,268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25566" y="1639086"/>
            <a:ext cx="722376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225566" y="163908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75374" y="1639086"/>
            <a:ext cx="722376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975374" y="163908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25182" y="1639086"/>
            <a:ext cx="777240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725182" y="163908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0,765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29854" y="1639086"/>
            <a:ext cx="777240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529854" y="163908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0,235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90726" y="1913406"/>
            <a:ext cx="2075688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90726" y="1913406"/>
            <a:ext cx="2075688" cy="265176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893846" y="1913406"/>
            <a:ext cx="658368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893846" y="191340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0,19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579646" y="1913406"/>
            <a:ext cx="795528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579646" y="191340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0,806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402606" y="1913406"/>
            <a:ext cx="795528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402606" y="191340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0,279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225566" y="1913406"/>
            <a:ext cx="722376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5225566" y="191340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0,569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975374" y="1913406"/>
            <a:ext cx="722376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5975374" y="191340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0,374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725182" y="1913406"/>
            <a:ext cx="777240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725182" y="191340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29854" y="1913406"/>
            <a:ext cx="777240" cy="265176"/>
          </a:xfrm>
          <a:prstGeom prst="rect">
            <a:avLst/>
          </a:prstGeom>
          <a:solidFill>
            <a:srgbClr val="0F20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7529854" y="191340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0,285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90726" y="2187726"/>
            <a:ext cx="207568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790726" y="2187726"/>
            <a:ext cx="2075688" cy="265176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893846" y="2187726"/>
            <a:ext cx="65836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2893846" y="218772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579646" y="2187726"/>
            <a:ext cx="79552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3579646" y="218772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0,824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402606" y="2187726"/>
            <a:ext cx="795528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402606" y="2187726"/>
            <a:ext cx="795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0,266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225566" y="2187726"/>
            <a:ext cx="722376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5225566" y="218772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0,412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975374" y="2187726"/>
            <a:ext cx="722376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5975374" y="2187726"/>
            <a:ext cx="722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725182" y="2187726"/>
            <a:ext cx="777240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6725182" y="218772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0,723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529854" y="2187726"/>
            <a:ext cx="777240" cy="265176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7529854" y="218772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0,240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256032" y="2841135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Gradient Boosting ?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256032" y="3133743"/>
            <a:ext cx="4206240" cy="34747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329184" y="3197751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329184" y="319775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F1=0,391  AUC=0,796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481328" y="3133743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équilibre performance globale sur toutes les métriques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90872" y="3133743"/>
            <a:ext cx="4206240" cy="34747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4764024" y="3197751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Text 96"/>
          <p:cNvSpPr/>
          <p:nvPr/>
        </p:nvSpPr>
        <p:spPr>
          <a:xfrm>
            <a:off x="4764024" y="319775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Seuil=0,48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916168" y="3133743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naturelle — pas d'artefact de seuil bas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56032" y="3536079"/>
            <a:ext cx="4206240" cy="34747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329184" y="3600087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0891B2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329184" y="360008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train/test=0,124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481328" y="3536079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RF gap=0,218 (train AUC=1,000) — bien moins d'overfitting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90872" y="3536079"/>
            <a:ext cx="4206240" cy="34747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4764024" y="3600087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Text 104"/>
          <p:cNvSpPr/>
          <p:nvPr/>
        </p:nvSpPr>
        <p:spPr>
          <a:xfrm>
            <a:off x="4764024" y="360008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écarté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916168" y="3536079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0,19 = surcalibration — trop de faux positifs en production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56032" y="3938415"/>
            <a:ext cx="4206240" cy="34747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329184" y="4002423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94A3B8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Text 108"/>
          <p:cNvSpPr/>
          <p:nvPr/>
        </p:nvSpPr>
        <p:spPr>
          <a:xfrm>
            <a:off x="329184" y="400242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1481328" y="3938415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iter confirment les paramètres initiaux : F1=0,382 &gt; F1 optimisé=0,320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690872" y="3938415"/>
            <a:ext cx="4206240" cy="34747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4764024" y="4002423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Text 112"/>
          <p:cNvSpPr/>
          <p:nvPr/>
        </p:nvSpPr>
        <p:spPr>
          <a:xfrm>
            <a:off x="4764024" y="400242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k=5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5916168" y="3938415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F1=0,185 ± 0,011 — faible variance, modèle stable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&amp; Analyse Métier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Gradient Boosting — valeurs réelles du modèle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042416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tenure_months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56816" y="1069848"/>
            <a:ext cx="1828800" cy="1645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0" y="1042416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21,9 %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35424" y="104241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protectrice — nouveaux clients les plus à risque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1612083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monthly_logins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56816" y="1639515"/>
            <a:ext cx="1719072" cy="16459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0" y="1612083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18,8 %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35424" y="1612083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d'engagement = signal de désintérêt précoce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1959555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payment_failures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56816" y="1986987"/>
            <a:ext cx="1225296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840480" y="1959555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15,8 %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35424" y="1959555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CRM prioritaire — difficultés financières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" y="2307027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avg_session_time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56816" y="2334459"/>
            <a:ext cx="969264" cy="1645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0" y="2307027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7,9 %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35424" y="2307027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d'usage en baisse = perte d'intérêt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2654499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56816" y="2681931"/>
            <a:ext cx="640080" cy="16459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840480" y="2654499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5,7 %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35424" y="2654499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client cumulée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3001971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nps_score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56816" y="3029403"/>
            <a:ext cx="621792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840480" y="3001971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4,1 %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35424" y="3001971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négatif = insatisfaction mesurable avant résiliation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6032" y="3349443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956816" y="3376875"/>
            <a:ext cx="512064" cy="16459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0" y="3349443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3,3 %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35424" y="3349443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démographique modérée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60273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SHAP — Scénario 2 (ÉLEVÉ, 62,9 %)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3895344"/>
            <a:ext cx="4206240" cy="347472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56032" y="3895344"/>
            <a:ext cx="36576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65760" y="38953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tenure_months = 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67712" y="396849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7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267712" y="39684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999232" y="38953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ancienneté = contribution positive majeure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90872" y="3895344"/>
            <a:ext cx="4206240" cy="347472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90872" y="3895344"/>
            <a:ext cx="36576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800600" y="38953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monthly_logins = 17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02552" y="396849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EF4444">
              <a:alpha val="7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702552" y="39684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34072" y="38953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faibles = signal de désengagement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4297680"/>
            <a:ext cx="4206240" cy="347472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256032" y="429768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6576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nps_score = -57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67712" y="437083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7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267712" y="43708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99232" y="429768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très négatif = insatisfaction critique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90872" y="4297680"/>
            <a:ext cx="4206240" cy="347472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690872" y="429768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80060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payment_failures = 2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02552" y="437083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59E0B">
              <a:alpha val="7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702552" y="43708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34072" y="429768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Echecs de paiement = alerte comportementale</a:t>
            </a:r>
            <a:endParaRPr lang="en-US" sz="850" dirty="0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6169F89B-846E-B763-6003-7B1F7F1CFFCD}"/>
              </a:ext>
            </a:extLst>
          </p:cNvPr>
          <p:cNvSpPr/>
          <p:nvPr/>
        </p:nvSpPr>
        <p:spPr>
          <a:xfrm>
            <a:off x="254605" y="1311556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csat_score</a:t>
            </a:r>
            <a:endParaRPr lang="en-US" sz="85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1AEBA406-B6EC-A0A3-F372-06DC23D53C44}"/>
              </a:ext>
            </a:extLst>
          </p:cNvPr>
          <p:cNvSpPr/>
          <p:nvPr/>
        </p:nvSpPr>
        <p:spPr>
          <a:xfrm>
            <a:off x="1955389" y="1338988"/>
            <a:ext cx="1810512" cy="164592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ACF1236D-7AEE-D819-1834-5131E8BA12AD}"/>
              </a:ext>
            </a:extLst>
          </p:cNvPr>
          <p:cNvSpPr/>
          <p:nvPr/>
        </p:nvSpPr>
        <p:spPr>
          <a:xfrm>
            <a:off x="3839053" y="1311556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19,4 %</a:t>
            </a:r>
            <a:endParaRPr lang="en-US" sz="850" dirty="0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8B351987-3AB3-6125-DA43-BBDCC9C73659}"/>
              </a:ext>
            </a:extLst>
          </p:cNvPr>
          <p:cNvSpPr/>
          <p:nvPr/>
        </p:nvSpPr>
        <p:spPr>
          <a:xfrm>
            <a:off x="4533997" y="13115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d'engagement = signal de désintérêt précoce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&amp; Démo Live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dashboard/app.py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969264"/>
            <a:ext cx="2011680" cy="19202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969264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60120" y="1033272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60120" y="1033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572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883664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: 1 021 clients à risque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862 640 € de revenu identifié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Fidèles vs Churners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par type de contrat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41448" y="969264"/>
            <a:ext cx="2011680" cy="19202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441448" y="969264"/>
            <a:ext cx="2011680" cy="45720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172968" y="1033272"/>
            <a:ext cx="475488" cy="475488"/>
          </a:xfrm>
          <a:prstGeom prst="ellipse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172968" y="1033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32888" y="1572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Clients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2888" y="1883664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 variable vs churn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interactive features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corrélation Plotly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fidèles / churners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54296" y="969264"/>
            <a:ext cx="2011680" cy="19202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54296" y="969264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385816" y="1033272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85816" y="1033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45736" y="1572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Modèles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883664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métriques stylisé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ROC comparées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top 15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67144" y="969264"/>
            <a:ext cx="2011680" cy="19202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867144" y="969264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598664" y="1033272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598664" y="1033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58584" y="1572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Client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58584" y="1883664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paramètres ajustables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via API FastAPI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 de risque animée Plotly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/ MODÉRÉ / ÉLEVÉ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2999232"/>
            <a:ext cx="8595360" cy="1536192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56032" y="2999232"/>
            <a:ext cx="859536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47472" y="3090672"/>
            <a:ext cx="960120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47472" y="309067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389888" y="307238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(FAIBLE, 6,0 %) :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tenure=56 mois, logins=44, payment_failures=0, NPS=+8,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=5  →  revenu à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7 €/an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389888" y="33467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(ÉLEVÉ, 62,9 %) :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tenure=1 mois, logins=17, payment_failures=2, NPS=-57, 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 →  revenu à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226 €/an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" y="3666744"/>
            <a:ext cx="8321040" cy="1371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47472" y="3749040"/>
            <a:ext cx="896112" cy="173736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47472" y="3749040"/>
            <a:ext cx="8961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325880" y="3767328"/>
            <a:ext cx="438912" cy="155448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325880" y="3767328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19656" y="3767328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794760" y="3767328"/>
            <a:ext cx="438912" cy="155448"/>
          </a:xfrm>
          <a:prstGeom prst="roundRect">
            <a:avLst>
              <a:gd name="adj" fmla="val 23529"/>
            </a:avLst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794760" y="3767328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288536" y="3767328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63640" y="3767328"/>
            <a:ext cx="438912" cy="155448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263640" y="3767328"/>
            <a:ext cx="4389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57416" y="3767328"/>
            <a:ext cx="1645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/model-info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7472" y="400507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auto-généré : localhost:8000/docs  |  Validation Pydantic  |  Front / API / Modèle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Limites &amp; Perspectives d'Amélioration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8595360" cy="402336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45720" cy="40233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84048" y="7498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83664" y="749808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d'aide à la décision — pas une réponse absolue. Validation humaine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recommandée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Pipeline reproductible, modèles versionnés.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554480"/>
            <a:ext cx="4206240" cy="3840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56032" y="1554480"/>
            <a:ext cx="36576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5544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</a:t>
            </a: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supplémentaires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75564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precisions avec les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011680"/>
            <a:ext cx="4206240" cy="3840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56032" y="2011680"/>
            <a:ext cx="36576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20116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RF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21284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train=1,000 vs test=0,782 — gap=0,218 — absence de max_depth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90872" y="1763029"/>
            <a:ext cx="4206240" cy="3840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690872" y="1763029"/>
            <a:ext cx="36576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00600" y="1763029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: intérêt limité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1964197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F1=0,358 &lt; GB (0,391) malgré coût computationnel plus élevé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2468880"/>
            <a:ext cx="4206240" cy="3840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56032" y="2468880"/>
            <a:ext cx="36576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24688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temporalité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267004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d'évolution plus prédictives que valeurs instantanées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90872" y="2220229"/>
            <a:ext cx="4206240" cy="3840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690872" y="2220229"/>
            <a:ext cx="36576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00600" y="2220229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monitoring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2421397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détection de data drift en production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6032" y="298094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6468" y="3273552"/>
            <a:ext cx="1627632" cy="12984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186468" y="3273552"/>
            <a:ext cx="1627632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259620" y="336499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59620" y="3749040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plus performant, robuste au déséquilibre nativement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23828" y="3273552"/>
            <a:ext cx="1627632" cy="12984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2923828" y="3273552"/>
            <a:ext cx="1627632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996980" y="336499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temporelles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996980" y="3749040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d'usage et d'engagement sur les derniers mois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1188" y="3273552"/>
            <a:ext cx="1627632" cy="12984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661188" y="3273552"/>
            <a:ext cx="1627632" cy="45720"/>
          </a:xfrm>
          <a:prstGeom prst="rect">
            <a:avLst/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734340" y="336499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drift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34340" y="3749040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+ réentraînement périodique automatique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98548" y="3273552"/>
            <a:ext cx="1627632" cy="12984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398548" y="3273552"/>
            <a:ext cx="1627632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471700" y="336499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CRM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71700" y="3749040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déjà opérationnelle — connecter Salesforce / HubSpot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463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&amp; API REST FastAPI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82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56032" y="1495761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api.main:app --port 8000  |  Documentation Swagger : localhost:8000/docs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788369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Front / API / Modèle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080977"/>
            <a:ext cx="2834640" cy="402336"/>
          </a:xfrm>
          <a:prstGeom prst="rect">
            <a:avLst/>
          </a:prstGeom>
          <a:solidFill>
            <a:srgbClr val="1A5EA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6032" y="2080977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2318721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" y="2492457"/>
            <a:ext cx="2834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HTTP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2593041"/>
            <a:ext cx="2834640" cy="402336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2593041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:8000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2830785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d'inférence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" y="3004521"/>
            <a:ext cx="2834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HTTP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3105105"/>
            <a:ext cx="2834640" cy="402336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56032" y="3105105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.pkl (joblib)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" y="3342849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· GB · MLP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6032" y="3516585"/>
            <a:ext cx="2834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HTTP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3617169"/>
            <a:ext cx="2834640" cy="402336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56032" y="3617169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JSON client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" y="3854913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churn_probability, risk_level...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1788369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080977"/>
            <a:ext cx="5486400" cy="62179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10712" y="2172417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10712" y="2172417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78224" y="2154129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0712" y="2428449"/>
            <a:ext cx="5321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du service + liste des 4 modèles chargés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812497"/>
            <a:ext cx="5486400" cy="62179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410712" y="2903937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1A5E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410712" y="2903937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78224" y="2885649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10712" y="3159969"/>
            <a:ext cx="5321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churn_probability, risk_level, revenue_at_risk_annual, threshold_used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3544017"/>
            <a:ext cx="5486400" cy="621792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410712" y="3635457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410712" y="3635457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78224" y="3617169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/model-info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0712" y="3891489"/>
            <a:ext cx="5321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des 4 modèles, paramètres, recommandation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03504"/>
            <a:ext cx="8595360" cy="228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04672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94944"/>
            <a:ext cx="1920240" cy="82296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8600" y="768096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205179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694944"/>
            <a:ext cx="1920240" cy="82296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441448" y="694944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441448" y="768096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0,391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41448" y="1205179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694944"/>
            <a:ext cx="1920240" cy="82296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54296" y="694944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54296" y="768096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0,796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296" y="1205179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correct</a:t>
            </a:r>
          </a:p>
        </p:txBody>
      </p:sp>
      <p:sp>
        <p:nvSpPr>
          <p:cNvPr id="18" name="Shape 16"/>
          <p:cNvSpPr/>
          <p:nvPr/>
        </p:nvSpPr>
        <p:spPr>
          <a:xfrm>
            <a:off x="6867144" y="694944"/>
            <a:ext cx="1920240" cy="82296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867144" y="694944"/>
            <a:ext cx="192024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67144" y="768096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862 640 €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67144" y="1205179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à sécuriser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" y="1989717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construit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" y="1768467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notebooks exécutés — EDA, Modélisation, Déséquilibre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entraînés + sérialisés (dont 1 Deep Learning)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sklearn complet sans data leakage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4 onglets orienté utilisateur métier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FastAPI 3 endpoints + documentation Swagger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1989717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métier démontrée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956816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1 021 clients à risque détectés sur 10 000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862 640 € de revenu annuel à sécuriser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avant résiliation — action préventive possible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Front / API / Modèle prête pour CRM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rigoureuse du déséquilibre 8,8:1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optimisé pour maximiser F1 en production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036179"/>
            <a:ext cx="8595360" cy="420624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56032" y="4036179"/>
            <a:ext cx="85953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56032" y="4072755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 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1899</Words>
  <Application>Microsoft Macintosh PowerPoint</Application>
  <PresentationFormat>Affichage à l'écran (16:9)</PresentationFormat>
  <Paragraphs>422</Paragraphs>
  <Slides>13</Slides>
  <Notes>13</Notes>
  <HiddenSlides>2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Haci Yilmazer</cp:lastModifiedBy>
  <cp:revision>29</cp:revision>
  <dcterms:created xsi:type="dcterms:W3CDTF">2026-05-21T12:49:07Z</dcterms:created>
  <dcterms:modified xsi:type="dcterms:W3CDTF">2026-05-22T13:49:00Z</dcterms:modified>
</cp:coreProperties>
</file>